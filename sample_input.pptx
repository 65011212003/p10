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audience and introduce yourself. Explain that this presentation will provide a thorough foundation in Machine Learning concepts, covering definitions, methodologies, and real-world applications. Mention that we'll explore how ML is transforming various industries and why understanding these fundamentals is crucial for modern professionals.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Begin with the fundamental definition. Emphasize that ML represents a paradigm shift from traditional programming where we write explicit rules to a data-driven approach where systems learn patterns. Provide examples of traditional programming vs. ML: In traditional programming, we write code to detect spam emails; in ML, we show the system thousands of spam and non-spam emails and let it learn the patterns. Mention that ML sits at the intersection of computer science, statistics, and domain expertise.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Dive deep into supervised learning. Explain that 'supervised' refers to the presence of labeled data that guides the learning process. Emphasize that this is the most common and well-established ML approach. Provide concrete examples: Email spam detection (classification: spam/not spam), house price prediction (regression: continuous value). Mention that supervised learning requires substantial labeled data, which can be expensive and time-consuming to create.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Provide specific, relatable examples for each category. For classification, explain binary vs. multi-class classification. For regression, emphasize that it predicts continuous values rather than categories. Briefly describe each algorithm: Linear Regression finds the best-fitting straight line through data points; Decision Trees make sequential decisions based on feature values; Neural Networks consist of interconnected layers of artificial neurons that can learn hierarchical representations.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unsupervised with supervised learning. Explain that unsupervised learning is valuable when we don't have labeled data or when we want to explore data without preconceived notions. Mention that it's often used for exploratory data analysis, customer segmentation, anomaly detection, and feature learning. Note that evaluating unsupervised learning can be more subjective since there's no clear 'right answer' to compare against.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Provide concrete business and scientific applications. For clustering, explain how retailers use it to group customers with similar purchasing behaviors. For dimensionality reduction, explain how it helps visualize complex data in 2D or 3D plots. Describe each algorithm: K-Means iteratively assigns points to the nearest cluster center; PCA transforms data to a new coordinate system where the greatest variances lie on the first coordinates; Autoencoders consist of encoder and decoder networks that learn efficient data codings.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reinforcement learning is fundamentally different from supervised and unsupervised learning. Emphasize the sequential decision-making aspect. Describe the Markov Decision Process framework: At each time step, the agent observes the state, selects an action, receives a reward, and transitions to a new state. Mention the exploration-exploitation tradeoff: balancing trying new actions vs. exploiting known good actions. Note that RL is particularly suited for problems where optimal behavior must be discovered through interaction.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breakthrough applications that have captured public attention. For game AI, mention how these systems learned through self-play without human data. For robotics, explain how RL enables robots to learn complex skills that are difficult to program manually. For autonomous vehicles, discuss how RL helps with decision-making in dynamic environments. Mention that RL is computationally intensive and often requires simulation environments for training.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that features are the raw material from which models learn. Discuss the importance of feature selection and engineering - often more important than algorithm choice. Explain the 'garbage in, garbage out' principle. For labels, discuss the challenges of obtaining high-quality labeled data, including annotation consistency, cost, and potential biases. Mention that in many real-world applications, creating labeled datasets is a major bottleneck.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training process in more detail, using the analogy of learning to ride a bicycle through practice. Discuss optimization algorithms like gradient descent that adjust model parameters. For validation, emphasize its critical role in preventing overfitting. Explain the typical data split: 70% training, 15% validation, 15% test. Describe k-fold cross-validation: partition data into k subsets, train on k-1 subsets, validate on the remaining subset, repeat k times, average results.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crucial concept that often determines ML project success. Provide a clear visual analogy: Imagine fitting a curve to data points - an overfitted model would wiggle through every point perfectly but fail to capture the true underlying trend. Discuss the bias-variance tradeoff: simple models have high bias (underfitting), complex models have high variance (overfitting), ideal models balance both. Explain each prevention technique: Regularization adds penalty for complex models; Early stopping monitors validation loss; Data augmentation creates modified versions of training data.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 TensorFlow as an industrial-strength framework suitable for both research and production. Explain the computational graph concept: operations are nodes, data flows as tensors between nodes. Mention that while initially perceived as having a steeper learning curve, recent versions (TensorFlow 2.0+) have become more user-friendly with eager execution by default. Highlight Google's extensive use of TensorFlow internally for products like Search, Translate, and Photos.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PyTorch's dynamic approach with TensorFlow's original static graphs. Emphasize PyTorch's popularity in academic research due to its flexibility and ease of debugging. Mention that many recent research papers include PyTorch implementations. Discuss the define-by-run paradigm: the graph is built on-the-fly as operations are executed, making it more intuitive for Python developers. Note that PyTorch has been gaining production capabilities through TorchServe and integration with other deployment tools.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Provide balanced comparison without declaring a clear 'winner.' Explain that choice depends on use case: TensorFlow for production systems, PyTorch for research. Mention that the gap is narrowing as both frameworks adopt each other's strengths. Discuss that many organizations use both: PyTorch for research/prototyping, TensorFlow for production. Note personal preference also plays a role - some developers prefer PyTorch's Pythonic style, others prefer TensorFlow's comprehensive ecosystem.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 scikit-learn as the go-to library for traditional ML algorithms (non-neural network). Emphasize its pedagogical value and clean design. Mention that many data scientists start with scikit-learn before moving to deep learning frameworks. For Keras, explain its role as an abstraction layer that makes deep learning more accessible. Discuss its ' Lego-like' approach: building models by stacking layers. Note that while Keras simplifies model building, advanced users can still access lower-level operations when needed.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Provide specific, impactful examples for each industry. For healthcare, mention how ML can analyze medical images with accuracy rivaling human experts and at scale. For finance, discuss how ML models can detect fraudulent patterns that would be impossible for humans to identify manually. Emphasize that ML is becoming a competitive necessity across sectors. Mention that successful ML implementation requires not just technical expertise but also domain knowledge and ethical considerations.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end-to-end ML workflow. Emphasize that ML projects are iterative, not linear. Discuss that data preparation typically consumes 80% of project time. Highlight the importance of proper evaluation: not just accuracy, but also precision, recall, F1-score, ROC curves depending on problem. Mention MLOps (ML Operations) - the practice of deploying and maintaining ML models in production, including versioning, monitoring, and continuous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key points from the presentation. Reinforce that ML is a powerful tool but not a magic solution - it requires careful problem formulation, quality data, and appropriate methodology. Emphasize the importance of continuous learning in this rapidly evolving field. Encourage the audience to start with hands-on practice using available datasets and frameworks. Mention resources for further learning: online courses, books, research papers, and open-source projects. End with an invitation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for their attention. Provide your contact information for follow-up questions. Share specific recommended resources based on different learning styles and goals. Encourage practical application: suggest starting with a simple project like predicting house prices or classifying iris flowers. Mention that the field evolves rapidly, so continuous learning is essential. Open the floor for questions, prepared to elaborate on any topic covered.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800" b="1">
                <a:solidFill>
                  <a:srgbClr val="1A1A1A"/>
                </a:solidFill>
                <a:latin typeface="Segoe UI"/>
              </a:defRPr>
            </a:pPr>
            <a:r>
              <a:t>Introduction to Machine Learning: Fundamentals and Applications</a:t>
            </a:r>
          </a:p>
        </p:txBody>
      </p:sp>
      <p:sp>
        <p:nvSpPr>
          <p:cNvPr id="3" name="Subtitle 2"/>
          <p:cNvSpPr>
            <a:spLocks noGrp="1"/>
          </p:cNvSpPr>
          <p:nvPr>
            <p:ph type="subTitle" idx="1"/>
          </p:nvPr>
        </p:nvSpPr>
        <p:spPr/>
        <p:txBody>
          <a:bodyPr/>
          <a:lstStyle/>
          <a:p>
            <a:pPr algn="ctr">
              <a:defRPr sz="2400" b="0">
                <a:solidFill>
                  <a:srgbClr val="4C4C4C"/>
                </a:solidFill>
                <a:latin typeface="Segoe UI Light"/>
              </a:defRPr>
            </a:pPr>
            <a:r>
              <a:t>Generated by AI PowerPoint Generator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A1A1A"/>
                </a:solidFill>
                <a:latin typeface="Segoe UI"/>
              </a:defRPr>
            </a:pPr>
            <a:r>
              <a:t>Presentation Title: Introduction to Machine Learning</a:t>
            </a:r>
          </a:p>
        </p:txBody>
      </p:sp>
      <p:sp>
        <p:nvSpPr>
          <p:cNvPr id="3" name="Content Placeholder 2"/>
          <p:cNvSpPr>
            <a:spLocks noGrp="1"/>
          </p:cNvSpPr>
          <p:nvPr>
            <p:ph idx="1"/>
          </p:nvPr>
        </p:nvSpPr>
        <p:spPr/>
        <p:txBody>
          <a:bodyPr wrap="square"/>
          <a:lstStyle/>
          <a:p>
            <a:pPr>
              <a:spcBef>
                <a:spcPts val="600"/>
              </a:spcBef>
              <a:spcAft>
                <a:spcPts val="400"/>
              </a:spcAft>
              <a:defRPr sz="1800" b="0">
                <a:solidFill>
                  <a:srgbClr val="333333"/>
                </a:solidFill>
                <a:latin typeface="Segoe UI Light"/>
              </a:defRPr>
            </a:pPr>
            <a:r>
              <a:t>Comprehensive overview of Machine Learning fundamentals</a:t>
            </a:r>
          </a:p>
          <a:p>
            <a:pPr>
              <a:spcBef>
                <a:spcPts val="600"/>
              </a:spcBef>
              <a:spcAft>
                <a:spcPts val="400"/>
              </a:spcAft>
              <a:defRPr sz="1800" b="0">
                <a:solidFill>
                  <a:srgbClr val="333333"/>
                </a:solidFill>
                <a:latin typeface="Segoe UI Light"/>
              </a:defRPr>
            </a:pPr>
            <a:r>
              <a:t>Detailed exploration of ML types, concepts, and frameworks</a:t>
            </a:r>
          </a:p>
          <a:p>
            <a:pPr>
              <a:spcBef>
                <a:spcPts val="600"/>
              </a:spcBef>
              <a:spcAft>
                <a:spcPts val="400"/>
              </a:spcAft>
              <a:defRPr sz="1800" b="0">
                <a:solidFill>
                  <a:srgbClr val="333333"/>
                </a:solidFill>
                <a:latin typeface="Segoe UI Light"/>
              </a:defRPr>
            </a:pPr>
            <a:r>
              <a:t>Practical applications and industry impact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A1A1A"/>
                </a:solidFill>
                <a:latin typeface="Segoe UI"/>
              </a:defRPr>
            </a:pPr>
            <a:r>
              <a:t>What is Machine Learning?</a:t>
            </a:r>
          </a:p>
        </p:txBody>
      </p:sp>
      <p:sp>
        <p:nvSpPr>
          <p:cNvPr id="3" name="Content Placeholder 2"/>
          <p:cNvSpPr>
            <a:spLocks noGrp="1"/>
          </p:cNvSpPr>
          <p:nvPr>
            <p:ph idx="1"/>
          </p:nvPr>
        </p:nvSpPr>
        <p:spPr/>
        <p:txBody>
          <a:bodyPr wrap="square"/>
          <a:lstStyle/>
          <a:p>
            <a:pPr>
              <a:spcBef>
                <a:spcPts val="600"/>
              </a:spcBef>
              <a:spcAft>
                <a:spcPts val="400"/>
              </a:spcAft>
              <a:defRPr sz="1800" b="0">
                <a:solidFill>
                  <a:srgbClr val="333333"/>
                </a:solidFill>
                <a:latin typeface="Segoe UI Light"/>
              </a:defRPr>
            </a:pPr>
            <a:r>
              <a:t>Machine Learning (ML) is a subset of artificial intelligence (AI)</a:t>
            </a:r>
          </a:p>
          <a:p>
            <a:pPr>
              <a:spcBef>
                <a:spcPts val="600"/>
              </a:spcBef>
              <a:spcAft>
                <a:spcPts val="400"/>
              </a:spcAft>
              <a:defRPr sz="1800" b="0">
                <a:solidFill>
                  <a:srgbClr val="333333"/>
                </a:solidFill>
                <a:latin typeface="Segoe UI Light"/>
              </a:defRPr>
            </a:pPr>
            <a:r>
              <a:t>Enables systems to learn and improve from experience automatically</a:t>
            </a:r>
          </a:p>
          <a:p>
            <a:pPr>
              <a:spcBef>
                <a:spcPts val="600"/>
              </a:spcBef>
              <a:spcAft>
                <a:spcPts val="400"/>
              </a:spcAft>
              <a:defRPr sz="1800" b="0">
                <a:solidFill>
                  <a:srgbClr val="333333"/>
                </a:solidFill>
                <a:latin typeface="Segoe UI Light"/>
              </a:defRPr>
            </a:pPr>
            <a:r>
              <a:t>Key distinction: Not explicitly programmed for specific tasks</a:t>
            </a:r>
          </a:p>
          <a:p>
            <a:pPr>
              <a:spcBef>
                <a:spcPts val="600"/>
              </a:spcBef>
              <a:spcAft>
                <a:spcPts val="400"/>
              </a:spcAft>
              <a:defRPr sz="1800" b="0">
                <a:solidFill>
                  <a:srgbClr val="333333"/>
                </a:solidFill>
                <a:latin typeface="Segoe UI Light"/>
              </a:defRPr>
            </a:pPr>
            <a:r>
              <a:t>Core capability: Pattern recognition and decision-making from data</a:t>
            </a:r>
          </a:p>
          <a:p>
            <a:pPr>
              <a:spcBef>
                <a:spcPts val="600"/>
              </a:spcBef>
              <a:spcAft>
                <a:spcPts val="400"/>
              </a:spcAft>
              <a:defRPr sz="1800" b="0">
                <a:solidFill>
                  <a:srgbClr val="333333"/>
                </a:solidFill>
                <a:latin typeface="Segoe UI Light"/>
              </a:defRPr>
            </a:pPr>
            <a:r>
              <a:t>Evolutionary approach: Systems adapt and optimize over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800" b="1">
                <a:solidFill>
                  <a:srgbClr val="00C896"/>
                </a:solidFill>
                <a:latin typeface="Segoe UI"/>
              </a:defRPr>
            </a:pPr>
            <a:r>
              <a:t>Section 1: Types of Machine Learning</a:t>
            </a:r>
          </a:p>
        </p:txBody>
      </p:sp>
      <p:sp>
        <p:nvSpPr>
          <p:cNvPr id="3" name="Text Placeholder 2"/>
          <p:cNvSpPr>
            <a:spLocks noGrp="1"/>
          </p:cNvSpPr>
          <p:nvPr>
            <p:ph type="body"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A1A1A"/>
                </a:solidFill>
                <a:latin typeface="Segoe UI"/>
              </a:defRPr>
            </a:pPr>
            <a:r>
              <a:t>Supervised Learning: Learning with Guidance</a:t>
            </a:r>
          </a:p>
        </p:txBody>
      </p:sp>
      <p:sp>
        <p:nvSpPr>
          <p:cNvPr id="3" name="Content Placeholder 2"/>
          <p:cNvSpPr>
            <a:spLocks noGrp="1"/>
          </p:cNvSpPr>
          <p:nvPr>
            <p:ph idx="1"/>
          </p:nvPr>
        </p:nvSpPr>
        <p:spPr/>
        <p:txBody>
          <a:bodyPr wrap="square"/>
          <a:lstStyle/>
          <a:p>
            <a:pPr>
              <a:spcBef>
                <a:spcPts val="600"/>
              </a:spcBef>
              <a:spcAft>
                <a:spcPts val="400"/>
              </a:spcAft>
              <a:defRPr sz="1800" b="0">
                <a:solidFill>
                  <a:srgbClr val="333333"/>
                </a:solidFill>
                <a:latin typeface="Segoe UI Light"/>
              </a:defRPr>
            </a:pPr>
            <a:r>
              <a:t>Definition: Uses labeled training data where each example has known input-output pairs</a:t>
            </a:r>
          </a:p>
          <a:p>
            <a:pPr>
              <a:spcBef>
                <a:spcPts val="600"/>
              </a:spcBef>
              <a:spcAft>
                <a:spcPts val="400"/>
              </a:spcAft>
              <a:defRPr sz="1800" b="0">
                <a:solidFill>
                  <a:srgbClr val="333333"/>
                </a:solidFill>
                <a:latin typeface="Segoe UI Light"/>
              </a:defRPr>
            </a:pPr>
            <a:r>
              <a:t>Analogy: Like learning with a teacher who provides correct answers</a:t>
            </a:r>
          </a:p>
          <a:p>
            <a:pPr>
              <a:spcBef>
                <a:spcPts val="600"/>
              </a:spcBef>
              <a:spcAft>
                <a:spcPts val="400"/>
              </a:spcAft>
              <a:defRPr sz="1800" b="0">
                <a:solidFill>
                  <a:srgbClr val="333333"/>
                </a:solidFill>
                <a:latin typeface="Segoe UI Light"/>
              </a:defRPr>
            </a:pPr>
            <a:r>
              <a:t>Primary goal: Learn mapping function from inputs (features) to outputs (labels)</a:t>
            </a:r>
          </a:p>
          <a:p>
            <a:pPr>
              <a:spcBef>
                <a:spcPts val="600"/>
              </a:spcBef>
              <a:spcAft>
                <a:spcPts val="400"/>
              </a:spcAft>
              <a:defRPr sz="1800" b="0">
                <a:solidFill>
                  <a:srgbClr val="333333"/>
                </a:solidFill>
                <a:latin typeface="Segoe UI Light"/>
              </a:defRPr>
            </a:pPr>
            <a:r>
              <a:t>Training process: Model makes predictions, compares to true labels, adjusts parameters to minimize error</a:t>
            </a:r>
          </a:p>
          <a:p>
            <a:pPr>
              <a:spcBef>
                <a:spcPts val="600"/>
              </a:spcBef>
              <a:spcAft>
                <a:spcPts val="400"/>
              </a:spcAft>
              <a:defRPr sz="1800" b="0">
                <a:solidFill>
                  <a:srgbClr val="333333"/>
                </a:solidFill>
                <a:latin typeface="Segoe UI Light"/>
              </a:defRPr>
            </a:pPr>
            <a:r>
              <a:t>Two main problem types: Classification and Regression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A1A1A"/>
                </a:solidFill>
                <a:latin typeface="Segoe UI"/>
              </a:defRPr>
            </a:pPr>
            <a:r>
              <a:t>Supervised Learning: Examples and Algorithms</a:t>
            </a:r>
          </a:p>
        </p:txBody>
      </p:sp>
      <p:sp>
        <p:nvSpPr>
          <p:cNvPr id="3" name="Content Placeholder 2"/>
          <p:cNvSpPr>
            <a:spLocks noGrp="1"/>
          </p:cNvSpPr>
          <p:nvPr>
            <p:ph idx="1"/>
          </p:nvPr>
        </p:nvSpPr>
        <p:spPr/>
        <p:txBody>
          <a:bodyPr wrap="square"/>
          <a:lstStyle/>
          <a:p>
            <a:pPr>
              <a:spcBef>
                <a:spcPts val="600"/>
              </a:spcBef>
              <a:spcAft>
                <a:spcPts val="400"/>
              </a:spcAft>
              <a:defRPr sz="1800" b="0">
                <a:solidFill>
                  <a:srgbClr val="333333"/>
                </a:solidFill>
                <a:latin typeface="Segoe UI Light"/>
              </a:defRPr>
            </a:pPr>
            <a:r>
              <a:t>Classification Examples:</a:t>
            </a:r>
          </a:p>
          <a:p>
            <a:pPr>
              <a:spcBef>
                <a:spcPts val="600"/>
              </a:spcBef>
              <a:spcAft>
                <a:spcPts val="400"/>
              </a:spcAft>
              <a:defRPr sz="1800" b="0">
                <a:solidFill>
                  <a:srgbClr val="333333"/>
                </a:solidFill>
                <a:latin typeface="Segoe UI Light"/>
              </a:defRPr>
            </a:pPr>
            <a:r>
              <a:t>Email spam detection (spam vs. not spam)</a:t>
            </a:r>
          </a:p>
          <a:p>
            <a:pPr>
              <a:spcBef>
                <a:spcPts val="600"/>
              </a:spcBef>
              <a:spcAft>
                <a:spcPts val="400"/>
              </a:spcAft>
              <a:defRPr sz="1800" b="0">
                <a:solidFill>
                  <a:srgbClr val="333333"/>
                </a:solidFill>
                <a:latin typeface="Segoe UI Light"/>
              </a:defRPr>
            </a:pPr>
            <a:r>
              <a:t>Medical diagnosis (disease present vs. absent)</a:t>
            </a:r>
          </a:p>
          <a:p>
            <a:pPr>
              <a:spcBef>
                <a:spcPts val="600"/>
              </a:spcBef>
              <a:spcAft>
                <a:spcPts val="400"/>
              </a:spcAft>
              <a:defRPr sz="1800" b="0">
                <a:solidFill>
                  <a:srgbClr val="333333"/>
                </a:solidFill>
                <a:latin typeface="Segoe UI Light"/>
              </a:defRPr>
            </a:pPr>
            <a:r>
              <a:t>Image recognition (cat vs. dog vs. car)</a:t>
            </a:r>
          </a:p>
          <a:p>
            <a:pPr>
              <a:spcBef>
                <a:spcPts val="600"/>
              </a:spcBef>
              <a:spcAft>
                <a:spcPts val="400"/>
              </a:spcAft>
              <a:defRPr sz="1800" b="0">
                <a:solidFill>
                  <a:srgbClr val="333333"/>
                </a:solidFill>
                <a:latin typeface="Segoe UI Light"/>
              </a:defRPr>
            </a:pPr>
            <a:r>
              <a:t>Regression Examples:</a:t>
            </a:r>
          </a:p>
          <a:p>
            <a:pPr>
              <a:spcBef>
                <a:spcPts val="600"/>
              </a:spcBef>
              <a:spcAft>
                <a:spcPts val="400"/>
              </a:spcAft>
              <a:defRPr sz="1800" b="0">
                <a:solidFill>
                  <a:srgbClr val="333333"/>
                </a:solidFill>
                <a:latin typeface="Segoe UI Light"/>
              </a:defRPr>
            </a:pPr>
            <a:r>
              <a:t>House price prediction based on features</a:t>
            </a:r>
          </a:p>
          <a:p>
            <a:pPr>
              <a:spcBef>
                <a:spcPts val="600"/>
              </a:spcBef>
              <a:spcAft>
                <a:spcPts val="400"/>
              </a:spcAft>
              <a:defRPr sz="1800" b="0">
                <a:solidFill>
                  <a:srgbClr val="333333"/>
                </a:solidFill>
                <a:latin typeface="Segoe UI Light"/>
              </a:defRPr>
            </a:pPr>
            <a:r>
              <a:t>Stock price forecasting</a:t>
            </a:r>
          </a:p>
          <a:p>
            <a:pPr>
              <a:spcBef>
                <a:spcPts val="600"/>
              </a:spcBef>
              <a:spcAft>
                <a:spcPts val="400"/>
              </a:spcAft>
              <a:defRPr sz="1800" b="0">
                <a:solidFill>
                  <a:srgbClr val="333333"/>
                </a:solidFill>
                <a:latin typeface="Segoe UI Light"/>
              </a:defRPr>
            </a:pPr>
            <a:r>
              <a:t>Temperature prediction</a:t>
            </a:r>
          </a:p>
          <a:p>
            <a:pPr>
              <a:spcBef>
                <a:spcPts val="600"/>
              </a:spcBef>
              <a:spcAft>
                <a:spcPts val="400"/>
              </a:spcAft>
              <a:defRPr sz="1800" b="0">
                <a:solidFill>
                  <a:srgbClr val="333333"/>
                </a:solidFill>
                <a:latin typeface="Segoe UI Light"/>
              </a:defRPr>
            </a:pPr>
            <a:r>
              <a:t>Common Algorithms:</a:t>
            </a:r>
          </a:p>
          <a:p>
            <a:pPr>
              <a:spcBef>
                <a:spcPts val="600"/>
              </a:spcBef>
              <a:spcAft>
                <a:spcPts val="400"/>
              </a:spcAft>
              <a:defRPr sz="1800" b="0">
                <a:solidFill>
                  <a:srgbClr val="333333"/>
                </a:solidFill>
                <a:latin typeface="Segoe UI Light"/>
              </a:defRPr>
            </a:pPr>
            <a:r>
              <a:t>Linear Regression: Models linear relationships between variables</a:t>
            </a:r>
          </a:p>
          <a:p>
            <a:pPr>
              <a:spcBef>
                <a:spcPts val="600"/>
              </a:spcBef>
              <a:spcAft>
                <a:spcPts val="400"/>
              </a:spcAft>
              <a:defRPr sz="1800" b="0">
                <a:solidFill>
                  <a:srgbClr val="333333"/>
                </a:solidFill>
                <a:latin typeface="Segoe UI Light"/>
              </a:defRPr>
            </a:pPr>
            <a:r>
              <a:t>Decision Trees: Tree-like model of decisions and consequences</a:t>
            </a:r>
          </a:p>
          <a:p>
            <a:pPr>
              <a:spcBef>
                <a:spcPts val="600"/>
              </a:spcBef>
              <a:spcAft>
                <a:spcPts val="400"/>
              </a:spcAft>
              <a:defRPr sz="1800" b="0">
                <a:solidFill>
                  <a:srgbClr val="333333"/>
                </a:solidFill>
                <a:latin typeface="Segoe UI Light"/>
              </a:defRPr>
            </a:pPr>
            <a:r>
              <a:t>Neural Networks: Inspired by biological neural networks, capable of learning complex patterns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A1A1A"/>
                </a:solidFill>
                <a:latin typeface="Segoe UI"/>
              </a:defRPr>
            </a:pPr>
            <a:r>
              <a:t>Unsupervised Learning: Discovering Hidden Patterns</a:t>
            </a:r>
          </a:p>
        </p:txBody>
      </p:sp>
      <p:sp>
        <p:nvSpPr>
          <p:cNvPr id="3" name="Content Placeholder 2"/>
          <p:cNvSpPr>
            <a:spLocks noGrp="1"/>
          </p:cNvSpPr>
          <p:nvPr>
            <p:ph idx="1"/>
          </p:nvPr>
        </p:nvSpPr>
        <p:spPr/>
        <p:txBody>
          <a:bodyPr wrap="square"/>
          <a:lstStyle/>
          <a:p>
            <a:pPr>
              <a:spcBef>
                <a:spcPts val="600"/>
              </a:spcBef>
              <a:spcAft>
                <a:spcPts val="400"/>
              </a:spcAft>
              <a:defRPr sz="1800" b="0">
                <a:solidFill>
                  <a:srgbClr val="333333"/>
                </a:solidFill>
                <a:latin typeface="Segoe UI Light"/>
              </a:defRPr>
            </a:pPr>
            <a:r>
              <a:t>Definition: Works with unlabeled data where outputs are unknown</a:t>
            </a:r>
          </a:p>
          <a:p>
            <a:pPr>
              <a:spcBef>
                <a:spcPts val="600"/>
              </a:spcBef>
              <a:spcAft>
                <a:spcPts val="400"/>
              </a:spcAft>
              <a:defRPr sz="1800" b="0">
                <a:solidFill>
                  <a:srgbClr val="333333"/>
                </a:solidFill>
                <a:latin typeface="Segoe UI Light"/>
              </a:defRPr>
            </a:pPr>
            <a:r>
              <a:t>Analogy: Like exploring without a map or guide</a:t>
            </a:r>
          </a:p>
          <a:p>
            <a:pPr>
              <a:spcBef>
                <a:spcPts val="600"/>
              </a:spcBef>
              <a:spcAft>
                <a:spcPts val="400"/>
              </a:spcAft>
              <a:defRPr sz="1800" b="0">
                <a:solidFill>
                  <a:srgbClr val="333333"/>
                </a:solidFill>
                <a:latin typeface="Segoe UI Light"/>
              </a:defRPr>
            </a:pPr>
            <a:r>
              <a:t>Primary goal: Discover inherent structure, patterns, or relationships in data</a:t>
            </a:r>
          </a:p>
          <a:p>
            <a:pPr>
              <a:spcBef>
                <a:spcPts val="600"/>
              </a:spcBef>
              <a:spcAft>
                <a:spcPts val="400"/>
              </a:spcAft>
              <a:defRPr sz="1800" b="0">
                <a:solidFill>
                  <a:srgbClr val="333333"/>
                </a:solidFill>
                <a:latin typeface="Segoe UI Light"/>
              </a:defRPr>
            </a:pPr>
            <a:r>
              <a:t>Key challenge: No ground truth for validation</a:t>
            </a:r>
          </a:p>
          <a:p>
            <a:pPr>
              <a:spcBef>
                <a:spcPts val="600"/>
              </a:spcBef>
              <a:spcAft>
                <a:spcPts val="400"/>
              </a:spcAft>
              <a:defRPr sz="1800" b="0">
                <a:solidFill>
                  <a:srgbClr val="333333"/>
                </a:solidFill>
                <a:latin typeface="Segoe UI Light"/>
              </a:defRPr>
            </a:pPr>
            <a:r>
              <a:t>Two main approaches: Clustering and Dimensionality Reduction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A1A1A"/>
                </a:solidFill>
                <a:latin typeface="Segoe UI"/>
              </a:defRPr>
            </a:pPr>
            <a:r>
              <a:t>Unsupervised Learning: Applications and Algorithms</a:t>
            </a:r>
          </a:p>
        </p:txBody>
      </p:sp>
      <p:sp>
        <p:nvSpPr>
          <p:cNvPr id="3" name="Content Placeholder 2"/>
          <p:cNvSpPr>
            <a:spLocks noGrp="1"/>
          </p:cNvSpPr>
          <p:nvPr>
            <p:ph idx="1"/>
          </p:nvPr>
        </p:nvSpPr>
        <p:spPr/>
        <p:txBody>
          <a:bodyPr wrap="square"/>
          <a:lstStyle/>
          <a:p>
            <a:pPr>
              <a:spcBef>
                <a:spcPts val="600"/>
              </a:spcBef>
              <a:spcAft>
                <a:spcPts val="400"/>
              </a:spcAft>
              <a:defRPr sz="1800" b="0">
                <a:solidFill>
                  <a:srgbClr val="333333"/>
                </a:solidFill>
                <a:latin typeface="Segoe UI Light"/>
              </a:defRPr>
            </a:pPr>
            <a:r>
              <a:t>Clustering Applications:</a:t>
            </a:r>
          </a:p>
          <a:p>
            <a:pPr>
              <a:spcBef>
                <a:spcPts val="600"/>
              </a:spcBef>
              <a:spcAft>
                <a:spcPts val="400"/>
              </a:spcAft>
              <a:defRPr sz="1800" b="0">
                <a:solidFill>
                  <a:srgbClr val="333333"/>
                </a:solidFill>
                <a:latin typeface="Segoe UI Light"/>
              </a:defRPr>
            </a:pPr>
            <a:r>
              <a:t>Customer segmentation for targeted marketing</a:t>
            </a:r>
          </a:p>
          <a:p>
            <a:pPr>
              <a:spcBef>
                <a:spcPts val="600"/>
              </a:spcBef>
              <a:spcAft>
                <a:spcPts val="400"/>
              </a:spcAft>
              <a:defRPr sz="1800" b="0">
                <a:solidFill>
                  <a:srgbClr val="333333"/>
                </a:solidFill>
                <a:latin typeface="Segoe UI Light"/>
              </a:defRPr>
            </a:pPr>
            <a:r>
              <a:t>Document grouping by topic</a:t>
            </a:r>
          </a:p>
          <a:p>
            <a:pPr>
              <a:spcBef>
                <a:spcPts val="600"/>
              </a:spcBef>
              <a:spcAft>
                <a:spcPts val="400"/>
              </a:spcAft>
              <a:defRPr sz="1800" b="0">
                <a:solidFill>
                  <a:srgbClr val="333333"/>
                </a:solidFill>
                <a:latin typeface="Segoe UI Light"/>
              </a:defRPr>
            </a:pPr>
            <a:r>
              <a:t>Social network analysis to identify communities</a:t>
            </a:r>
          </a:p>
          <a:p>
            <a:pPr>
              <a:spcBef>
                <a:spcPts val="600"/>
              </a:spcBef>
              <a:spcAft>
                <a:spcPts val="400"/>
              </a:spcAft>
              <a:defRPr sz="1800" b="0">
                <a:solidFill>
                  <a:srgbClr val="333333"/>
                </a:solidFill>
                <a:latin typeface="Segoe UI Light"/>
              </a:defRPr>
            </a:pPr>
            <a:r>
              <a:t>Dimensionality Reduction Applications:</a:t>
            </a:r>
          </a:p>
          <a:p>
            <a:pPr>
              <a:spcBef>
                <a:spcPts val="600"/>
              </a:spcBef>
              <a:spcAft>
                <a:spcPts val="400"/>
              </a:spcAft>
              <a:defRPr sz="1800" b="0">
                <a:solidFill>
                  <a:srgbClr val="333333"/>
                </a:solidFill>
                <a:latin typeface="Segoe UI Light"/>
              </a:defRPr>
            </a:pPr>
            <a:r>
              <a:t>Data visualization of high-dimensional data</a:t>
            </a:r>
          </a:p>
          <a:p>
            <a:pPr>
              <a:spcBef>
                <a:spcPts val="600"/>
              </a:spcBef>
              <a:spcAft>
                <a:spcPts val="400"/>
              </a:spcAft>
              <a:defRPr sz="1800" b="0">
                <a:solidFill>
                  <a:srgbClr val="333333"/>
                </a:solidFill>
                <a:latin typeface="Segoe UI Light"/>
              </a:defRPr>
            </a:pPr>
            <a:r>
              <a:t>Feature extraction for downstream tasks</a:t>
            </a:r>
          </a:p>
          <a:p>
            <a:pPr>
              <a:spcBef>
                <a:spcPts val="600"/>
              </a:spcBef>
              <a:spcAft>
                <a:spcPts val="400"/>
              </a:spcAft>
              <a:defRPr sz="1800" b="0">
                <a:solidFill>
                  <a:srgbClr val="333333"/>
                </a:solidFill>
                <a:latin typeface="Segoe UI Light"/>
              </a:defRPr>
            </a:pPr>
            <a:r>
              <a:t>Noise reduction in datasets</a:t>
            </a:r>
          </a:p>
          <a:p>
            <a:pPr>
              <a:spcBef>
                <a:spcPts val="600"/>
              </a:spcBef>
              <a:spcAft>
                <a:spcPts val="400"/>
              </a:spcAft>
              <a:defRPr sz="1800" b="0">
                <a:solidFill>
                  <a:srgbClr val="333333"/>
                </a:solidFill>
                <a:latin typeface="Segoe UI Light"/>
              </a:defRPr>
            </a:pPr>
            <a:r>
              <a:t>Common Algorithms:</a:t>
            </a:r>
          </a:p>
          <a:p>
            <a:pPr>
              <a:spcBef>
                <a:spcPts val="600"/>
              </a:spcBef>
              <a:spcAft>
                <a:spcPts val="400"/>
              </a:spcAft>
              <a:defRPr sz="1800" b="0">
                <a:solidFill>
                  <a:srgbClr val="333333"/>
                </a:solidFill>
                <a:latin typeface="Segoe UI Light"/>
              </a:defRPr>
            </a:pPr>
            <a:r>
              <a:t>K-Means: Partitions data into K distinct clusters based on similarity</a:t>
            </a:r>
          </a:p>
          <a:p>
            <a:pPr>
              <a:spcBef>
                <a:spcPts val="600"/>
              </a:spcBef>
              <a:spcAft>
                <a:spcPts val="400"/>
              </a:spcAft>
              <a:defRPr sz="1800" b="0">
                <a:solidFill>
                  <a:srgbClr val="333333"/>
                </a:solidFill>
                <a:latin typeface="Segoe UI Light"/>
              </a:defRPr>
            </a:pPr>
            <a:r>
              <a:t>PCA (Principal Component Analysis): Identifies directions of maximum variance in data</a:t>
            </a:r>
          </a:p>
          <a:p>
            <a:pPr>
              <a:spcBef>
                <a:spcPts val="600"/>
              </a:spcBef>
              <a:spcAft>
                <a:spcPts val="400"/>
              </a:spcAft>
              <a:defRPr sz="1800" b="0">
                <a:solidFill>
                  <a:srgbClr val="333333"/>
                </a:solidFill>
                <a:latin typeface="Segoe UI Light"/>
              </a:defRPr>
            </a:pPr>
            <a:r>
              <a:t>Autoencoders: Neural networks that learn compressed representations of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A1A1A"/>
                </a:solidFill>
                <a:latin typeface="Segoe UI"/>
              </a:defRPr>
            </a:pPr>
            <a:r>
              <a:t>Reinforcement Learning: Learning Through Interaction</a:t>
            </a:r>
          </a:p>
        </p:txBody>
      </p:sp>
      <p:sp>
        <p:nvSpPr>
          <p:cNvPr id="3" name="Content Placeholder 2"/>
          <p:cNvSpPr>
            <a:spLocks noGrp="1"/>
          </p:cNvSpPr>
          <p:nvPr>
            <p:ph idx="1"/>
          </p:nvPr>
        </p:nvSpPr>
        <p:spPr/>
        <p:txBody>
          <a:bodyPr wrap="square"/>
          <a:lstStyle/>
          <a:p>
            <a:pPr>
              <a:spcBef>
                <a:spcPts val="600"/>
              </a:spcBef>
              <a:spcAft>
                <a:spcPts val="400"/>
              </a:spcAft>
              <a:defRPr sz="1800" b="0">
                <a:solidFill>
                  <a:srgbClr val="333333"/>
                </a:solidFill>
                <a:latin typeface="Segoe UI Light"/>
              </a:defRPr>
            </a:pPr>
            <a:r>
              <a:t>Definition: Learns through trial and error by interacting with an environment</a:t>
            </a:r>
          </a:p>
          <a:p>
            <a:pPr>
              <a:spcBef>
                <a:spcPts val="600"/>
              </a:spcBef>
              <a:spcAft>
                <a:spcPts val="400"/>
              </a:spcAft>
              <a:defRPr sz="1800" b="0">
                <a:solidFill>
                  <a:srgbClr val="333333"/>
                </a:solidFill>
                <a:latin typeface="Segoe UI Light"/>
              </a:defRPr>
            </a:pPr>
            <a:r>
              <a:t>Analogy: Like training a pet with rewards and punishments</a:t>
            </a:r>
          </a:p>
          <a:p>
            <a:pPr>
              <a:spcBef>
                <a:spcPts val="600"/>
              </a:spcBef>
              <a:spcAft>
                <a:spcPts val="400"/>
              </a:spcAft>
              <a:defRPr sz="1800" b="0">
                <a:solidFill>
                  <a:srgbClr val="333333"/>
                </a:solidFill>
                <a:latin typeface="Segoe UI Light"/>
              </a:defRPr>
            </a:pPr>
            <a:r>
              <a:t>Core components: Agent, Environment, Actions, States, Rewards</a:t>
            </a:r>
          </a:p>
          <a:p>
            <a:pPr>
              <a:spcBef>
                <a:spcPts val="600"/>
              </a:spcBef>
              <a:spcAft>
                <a:spcPts val="400"/>
              </a:spcAft>
              <a:defRPr sz="1800" b="0">
                <a:solidFill>
                  <a:srgbClr val="333333"/>
                </a:solidFill>
                <a:latin typeface="Segoe UI Light"/>
              </a:defRPr>
            </a:pPr>
            <a:r>
              <a:t>Learning mechanism: Agent takes actions, receives rewards/penalties, updates policy to maximize cumulative reward</a:t>
            </a:r>
          </a:p>
          <a:p>
            <a:pPr>
              <a:spcBef>
                <a:spcPts val="600"/>
              </a:spcBef>
              <a:spcAft>
                <a:spcPts val="400"/>
              </a:spcAft>
              <a:defRPr sz="1800" b="0">
                <a:solidFill>
                  <a:srgbClr val="333333"/>
                </a:solidFill>
                <a:latin typeface="Segoe UI Light"/>
              </a:defRPr>
            </a:pPr>
            <a:r>
              <a:t>Temporal aspect: Considers sequences of actions and delayed consequences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A1A1A"/>
                </a:solidFill>
                <a:latin typeface="Segoe UI"/>
              </a:defRPr>
            </a:pPr>
            <a:r>
              <a:t>Reinforcement Learning: Real-World Applications</a:t>
            </a:r>
          </a:p>
        </p:txBody>
      </p:sp>
      <p:sp>
        <p:nvSpPr>
          <p:cNvPr id="3" name="Content Placeholder 2"/>
          <p:cNvSpPr>
            <a:spLocks noGrp="1"/>
          </p:cNvSpPr>
          <p:nvPr>
            <p:ph idx="1"/>
          </p:nvPr>
        </p:nvSpPr>
        <p:spPr/>
        <p:txBody>
          <a:bodyPr wrap="square"/>
          <a:lstStyle/>
          <a:p>
            <a:pPr>
              <a:spcBef>
                <a:spcPts val="600"/>
              </a:spcBef>
              <a:spcAft>
                <a:spcPts val="400"/>
              </a:spcAft>
              <a:defRPr sz="1800" b="0">
                <a:solidFill>
                  <a:srgbClr val="333333"/>
                </a:solidFill>
                <a:latin typeface="Segoe UI Light"/>
              </a:defRPr>
            </a:pPr>
            <a:r>
              <a:t>Game AI Applications:</a:t>
            </a:r>
          </a:p>
          <a:p>
            <a:pPr>
              <a:spcBef>
                <a:spcPts val="600"/>
              </a:spcBef>
              <a:spcAft>
                <a:spcPts val="400"/>
              </a:spcAft>
              <a:defRPr sz="1800" b="0">
                <a:solidFill>
                  <a:srgbClr val="333333"/>
                </a:solidFill>
                <a:latin typeface="Segoe UI Light"/>
              </a:defRPr>
            </a:pPr>
            <a:r>
              <a:t>AlphaGo and AlphaZero mastering Go and Chess</a:t>
            </a:r>
          </a:p>
          <a:p>
            <a:pPr>
              <a:spcBef>
                <a:spcPts val="600"/>
              </a:spcBef>
              <a:spcAft>
                <a:spcPts val="400"/>
              </a:spcAft>
              <a:defRPr sz="1800" b="0">
                <a:solidFill>
                  <a:srgbClr val="333333"/>
                </a:solidFill>
                <a:latin typeface="Segoe UI Light"/>
              </a:defRPr>
            </a:pPr>
            <a:r>
              <a:t>OpenAI Five defeating professional Dota 2 players</a:t>
            </a:r>
          </a:p>
          <a:p>
            <a:pPr>
              <a:spcBef>
                <a:spcPts val="600"/>
              </a:spcBef>
              <a:spcAft>
                <a:spcPts val="400"/>
              </a:spcAft>
              <a:defRPr sz="1800" b="0">
                <a:solidFill>
                  <a:srgbClr val="333333"/>
                </a:solidFill>
                <a:latin typeface="Segoe UI Light"/>
              </a:defRPr>
            </a:pPr>
            <a:r>
              <a:t>DeepMind's agents achieving superhuman performance in Atari games</a:t>
            </a:r>
          </a:p>
          <a:p>
            <a:pPr>
              <a:spcBef>
                <a:spcPts val="600"/>
              </a:spcBef>
              <a:spcAft>
                <a:spcPts val="400"/>
              </a:spcAft>
              <a:defRPr sz="1800" b="0">
                <a:solidFill>
                  <a:srgbClr val="333333"/>
                </a:solidFill>
                <a:latin typeface="Segoe UI Light"/>
              </a:defRPr>
            </a:pPr>
            <a:r>
              <a:t>Robotics Applications:</a:t>
            </a:r>
          </a:p>
          <a:p>
            <a:pPr>
              <a:spcBef>
                <a:spcPts val="600"/>
              </a:spcBef>
              <a:spcAft>
                <a:spcPts val="400"/>
              </a:spcAft>
              <a:defRPr sz="1800" b="0">
                <a:solidFill>
                  <a:srgbClr val="333333"/>
                </a:solidFill>
                <a:latin typeface="Segoe UI Light"/>
              </a:defRPr>
            </a:pPr>
            <a:r>
              <a:t>Robotic manipulation and grasping</a:t>
            </a:r>
          </a:p>
          <a:p>
            <a:pPr>
              <a:spcBef>
                <a:spcPts val="600"/>
              </a:spcBef>
              <a:spcAft>
                <a:spcPts val="400"/>
              </a:spcAft>
              <a:defRPr sz="1800" b="0">
                <a:solidFill>
                  <a:srgbClr val="333333"/>
                </a:solidFill>
                <a:latin typeface="Segoe UI Light"/>
              </a:defRPr>
            </a:pPr>
            <a:r>
              <a:t>Autonomous navigation in complex environments</a:t>
            </a:r>
          </a:p>
          <a:p>
            <a:pPr>
              <a:spcBef>
                <a:spcPts val="600"/>
              </a:spcBef>
              <a:spcAft>
                <a:spcPts val="400"/>
              </a:spcAft>
              <a:defRPr sz="1800" b="0">
                <a:solidFill>
                  <a:srgbClr val="333333"/>
                </a:solidFill>
                <a:latin typeface="Segoe UI Light"/>
              </a:defRPr>
            </a:pPr>
            <a:r>
              <a:t>Learning locomotion skills for legged robots</a:t>
            </a:r>
          </a:p>
          <a:p>
            <a:pPr>
              <a:spcBef>
                <a:spcPts val="600"/>
              </a:spcBef>
              <a:spcAft>
                <a:spcPts val="400"/>
              </a:spcAft>
              <a:defRPr sz="1800" b="0">
                <a:solidFill>
                  <a:srgbClr val="333333"/>
                </a:solidFill>
                <a:latin typeface="Segoe UI Light"/>
              </a:defRPr>
            </a:pPr>
            <a:r>
              <a:t>Autonomous Vehicles:</a:t>
            </a:r>
          </a:p>
          <a:p>
            <a:pPr>
              <a:spcBef>
                <a:spcPts val="600"/>
              </a:spcBef>
              <a:spcAft>
                <a:spcPts val="400"/>
              </a:spcAft>
              <a:defRPr sz="1800" b="0">
                <a:solidFill>
                  <a:srgbClr val="333333"/>
                </a:solidFill>
                <a:latin typeface="Segoe UI Light"/>
              </a:defRPr>
            </a:pPr>
            <a:r>
              <a:t>Path planning and decision making</a:t>
            </a:r>
          </a:p>
          <a:p>
            <a:pPr>
              <a:spcBef>
                <a:spcPts val="600"/>
              </a:spcBef>
              <a:spcAft>
                <a:spcPts val="400"/>
              </a:spcAft>
              <a:defRPr sz="1800" b="0">
                <a:solidFill>
                  <a:srgbClr val="333333"/>
                </a:solidFill>
                <a:latin typeface="Segoe UI Light"/>
              </a:defRPr>
            </a:pPr>
            <a:r>
              <a:t>Adaptive cruise control systems</a:t>
            </a:r>
          </a:p>
          <a:p>
            <a:pPr>
              <a:spcBef>
                <a:spcPts val="600"/>
              </a:spcBef>
              <a:spcAft>
                <a:spcPts val="400"/>
              </a:spcAft>
              <a:defRPr sz="1800" b="0">
                <a:solidFill>
                  <a:srgbClr val="333333"/>
                </a:solidFill>
                <a:latin typeface="Segoe UI Light"/>
              </a:defRPr>
            </a:pPr>
            <a:r>
              <a:t>Traffic light optimization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800" b="1">
                <a:solidFill>
                  <a:srgbClr val="00C896"/>
                </a:solidFill>
                <a:latin typeface="Segoe UI"/>
              </a:defRPr>
            </a:pPr>
            <a:r>
              <a:t>Section 2: Key Machine Learning Concepts</a:t>
            </a:r>
          </a:p>
        </p:txBody>
      </p:sp>
      <p:sp>
        <p:nvSpPr>
          <p:cNvPr id="3" name="Text Placeholder 2"/>
          <p:cNvSpPr>
            <a:spLocks noGrp="1"/>
          </p:cNvSpPr>
          <p:nvPr>
            <p:ph type="body" idx="1"/>
          </p:nvPr>
        </p:nvSpPr>
        <p:spPr/>
        <p:txBody>
          <a:bodyP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A1A1A"/>
                </a:solidFill>
                <a:latin typeface="Segoe UI"/>
              </a:defRPr>
            </a:pPr>
            <a:r>
              <a:t>Core ML Concepts: Features and Labels</a:t>
            </a:r>
          </a:p>
        </p:txBody>
      </p:sp>
      <p:sp>
        <p:nvSpPr>
          <p:cNvPr id="3" name="Content Placeholder 2"/>
          <p:cNvSpPr>
            <a:spLocks noGrp="1"/>
          </p:cNvSpPr>
          <p:nvPr>
            <p:ph idx="1"/>
          </p:nvPr>
        </p:nvSpPr>
        <p:spPr/>
        <p:txBody>
          <a:bodyPr wrap="square"/>
          <a:lstStyle/>
          <a:p>
            <a:pPr>
              <a:spcBef>
                <a:spcPts val="600"/>
              </a:spcBef>
              <a:spcAft>
                <a:spcPts val="400"/>
              </a:spcAft>
              <a:defRPr sz="1800" b="0">
                <a:solidFill>
                  <a:srgbClr val="333333"/>
                </a:solidFill>
                <a:latin typeface="Segoe UI Light"/>
              </a:defRPr>
            </a:pPr>
            <a:r>
              <a:t>Features (Input Variables):</a:t>
            </a:r>
          </a:p>
          <a:p>
            <a:pPr>
              <a:spcBef>
                <a:spcPts val="600"/>
              </a:spcBef>
              <a:spcAft>
                <a:spcPts val="400"/>
              </a:spcAft>
              <a:defRPr sz="1800" b="0">
                <a:solidFill>
                  <a:srgbClr val="333333"/>
                </a:solidFill>
                <a:latin typeface="Segoe UI Light"/>
              </a:defRPr>
            </a:pPr>
            <a:r>
              <a:t>Measurable properties or characteristics of the phenomenon being observed</a:t>
            </a:r>
          </a:p>
          <a:p>
            <a:pPr>
              <a:spcBef>
                <a:spcPts val="600"/>
              </a:spcBef>
              <a:spcAft>
                <a:spcPts val="400"/>
              </a:spcAft>
              <a:defRPr sz="1800" b="0">
                <a:solidFill>
                  <a:srgbClr val="333333"/>
                </a:solidFill>
                <a:latin typeface="Segoe UI Light"/>
              </a:defRPr>
            </a:pPr>
            <a:r>
              <a:t>Can be numerical (temperature, price) or categorical (color, type)</a:t>
            </a:r>
          </a:p>
          <a:p>
            <a:pPr>
              <a:spcBef>
                <a:spcPts val="600"/>
              </a:spcBef>
              <a:spcAft>
                <a:spcPts val="400"/>
              </a:spcAft>
              <a:defRPr sz="1800" b="0">
                <a:solidFill>
                  <a:srgbClr val="333333"/>
                </a:solidFill>
                <a:latin typeface="Segoe UI Light"/>
              </a:defRPr>
            </a:pPr>
            <a:r>
              <a:t>Feature engineering: Process of selecting, modifying, or creating features to improve model performance</a:t>
            </a:r>
          </a:p>
          <a:p>
            <a:pPr>
              <a:spcBef>
                <a:spcPts val="600"/>
              </a:spcBef>
              <a:spcAft>
                <a:spcPts val="400"/>
              </a:spcAft>
              <a:defRPr sz="1800" b="0">
                <a:solidFill>
                  <a:srgbClr val="333333"/>
                </a:solidFill>
                <a:latin typeface="Segoe UI Light"/>
              </a:defRPr>
            </a:pPr>
            <a:r>
              <a:t>Example: For house price prediction: square footage, number of bedrooms, location, age</a:t>
            </a:r>
          </a:p>
          <a:p>
            <a:pPr>
              <a:spcBef>
                <a:spcPts val="600"/>
              </a:spcBef>
              <a:spcAft>
                <a:spcPts val="400"/>
              </a:spcAft>
              <a:defRPr sz="1800" b="0">
                <a:solidFill>
                  <a:srgbClr val="333333"/>
                </a:solidFill>
                <a:latin typeface="Segoe UI Light"/>
              </a:defRPr>
            </a:pPr>
            <a:r>
              <a:t>Labels (Output Variables in Supervised Learning):</a:t>
            </a:r>
          </a:p>
          <a:p>
            <a:pPr>
              <a:spcBef>
                <a:spcPts val="600"/>
              </a:spcBef>
              <a:spcAft>
                <a:spcPts val="400"/>
              </a:spcAft>
              <a:defRPr sz="1800" b="0">
                <a:solidFill>
                  <a:srgbClr val="333333"/>
                </a:solidFill>
                <a:latin typeface="Segoe UI Light"/>
              </a:defRPr>
            </a:pPr>
            <a:r>
              <a:t>The target variable we want to predict</a:t>
            </a:r>
          </a:p>
          <a:p>
            <a:pPr>
              <a:spcBef>
                <a:spcPts val="600"/>
              </a:spcBef>
              <a:spcAft>
                <a:spcPts val="400"/>
              </a:spcAft>
              <a:defRPr sz="1800" b="0">
                <a:solidFill>
                  <a:srgbClr val="333333"/>
                </a:solidFill>
                <a:latin typeface="Segoe UI Light"/>
              </a:defRPr>
            </a:pPr>
            <a:r>
              <a:t>In classification: discrete categories (spam/not spam)</a:t>
            </a:r>
          </a:p>
          <a:p>
            <a:pPr>
              <a:spcBef>
                <a:spcPts val="600"/>
              </a:spcBef>
              <a:spcAft>
                <a:spcPts val="400"/>
              </a:spcAft>
              <a:defRPr sz="1800" b="0">
                <a:solidFill>
                  <a:srgbClr val="333333"/>
                </a:solidFill>
                <a:latin typeface="Segoe UI Light"/>
              </a:defRPr>
            </a:pPr>
            <a:r>
              <a:t>In regression: continuous values (price, temperature)</a:t>
            </a:r>
          </a:p>
          <a:p>
            <a:pPr>
              <a:spcBef>
                <a:spcPts val="600"/>
              </a:spcBef>
              <a:spcAft>
                <a:spcPts val="400"/>
              </a:spcAft>
              <a:defRPr sz="1800" b="0">
                <a:solidFill>
                  <a:srgbClr val="333333"/>
                </a:solidFill>
                <a:latin typeface="Segoe UI Light"/>
              </a:defRPr>
            </a:pPr>
            <a:r>
              <a:t>Quality and quantity of labeled data significantly impacts model performance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A1A1A"/>
                </a:solidFill>
                <a:latin typeface="Segoe UI"/>
              </a:defRPr>
            </a:pPr>
            <a:r>
              <a:t>Core ML Concepts: Training and Validation</a:t>
            </a:r>
          </a:p>
        </p:txBody>
      </p:sp>
      <p:sp>
        <p:nvSpPr>
          <p:cNvPr id="3" name="Content Placeholder 2"/>
          <p:cNvSpPr>
            <a:spLocks noGrp="1"/>
          </p:cNvSpPr>
          <p:nvPr>
            <p:ph idx="1"/>
          </p:nvPr>
        </p:nvSpPr>
        <p:spPr/>
        <p:txBody>
          <a:bodyPr wrap="square"/>
          <a:lstStyle/>
          <a:p>
            <a:pPr>
              <a:spcBef>
                <a:spcPts val="600"/>
              </a:spcBef>
              <a:spcAft>
                <a:spcPts val="400"/>
              </a:spcAft>
              <a:defRPr sz="1800" b="0">
                <a:solidFill>
                  <a:srgbClr val="333333"/>
                </a:solidFill>
                <a:latin typeface="Segoe UI Light"/>
              </a:defRPr>
            </a:pPr>
            <a:r>
              <a:t>Training Process:</a:t>
            </a:r>
          </a:p>
          <a:p>
            <a:pPr>
              <a:spcBef>
                <a:spcPts val="600"/>
              </a:spcBef>
              <a:spcAft>
                <a:spcPts val="400"/>
              </a:spcAft>
              <a:defRPr sz="1800" b="0">
                <a:solidFill>
                  <a:srgbClr val="333333"/>
                </a:solidFill>
                <a:latin typeface="Segoe UI Light"/>
              </a:defRPr>
            </a:pPr>
            <a:r>
              <a:t>Teaching the model by showing it examples (input-output pairs in supervised learning)</a:t>
            </a:r>
          </a:p>
          <a:p>
            <a:pPr>
              <a:spcBef>
                <a:spcPts val="600"/>
              </a:spcBef>
              <a:spcAft>
                <a:spcPts val="400"/>
              </a:spcAft>
              <a:defRPr sz="1800" b="0">
                <a:solidFill>
                  <a:srgbClr val="333333"/>
                </a:solidFill>
                <a:latin typeface="Segoe UI Light"/>
              </a:defRPr>
            </a:pPr>
            <a:r>
              <a:t>Model adjusts its internal parameters to minimize prediction error</a:t>
            </a:r>
          </a:p>
          <a:p>
            <a:pPr>
              <a:spcBef>
                <a:spcPts val="600"/>
              </a:spcBef>
              <a:spcAft>
                <a:spcPts val="400"/>
              </a:spcAft>
              <a:defRPr sz="1800" b="0">
                <a:solidFill>
                  <a:srgbClr val="333333"/>
                </a:solidFill>
                <a:latin typeface="Segoe UI Light"/>
              </a:defRPr>
            </a:pPr>
            <a:r>
              <a:t>Iterative process: Forward pass (make prediction), backward pass (calculate error, adjust parameters)</a:t>
            </a:r>
          </a:p>
          <a:p>
            <a:pPr>
              <a:spcBef>
                <a:spcPts val="600"/>
              </a:spcBef>
              <a:spcAft>
                <a:spcPts val="400"/>
              </a:spcAft>
              <a:defRPr sz="1800" b="0">
                <a:solidFill>
                  <a:srgbClr val="333333"/>
                </a:solidFill>
                <a:latin typeface="Segoe UI Light"/>
              </a:defRPr>
            </a:pPr>
            <a:r>
              <a:t>Requires substantial computational resources for complex models</a:t>
            </a:r>
          </a:p>
          <a:p>
            <a:pPr>
              <a:spcBef>
                <a:spcPts val="600"/>
              </a:spcBef>
              <a:spcAft>
                <a:spcPts val="400"/>
              </a:spcAft>
              <a:defRPr sz="1800" b="0">
                <a:solidFill>
                  <a:srgbClr val="333333"/>
                </a:solidFill>
                <a:latin typeface="Segoe UI Light"/>
              </a:defRPr>
            </a:pPr>
            <a:r>
              <a:t>Validation Process:</a:t>
            </a:r>
          </a:p>
          <a:p>
            <a:pPr>
              <a:spcBef>
                <a:spcPts val="600"/>
              </a:spcBef>
              <a:spcAft>
                <a:spcPts val="400"/>
              </a:spcAft>
              <a:defRPr sz="1800" b="0">
                <a:solidFill>
                  <a:srgbClr val="333333"/>
                </a:solidFill>
                <a:latin typeface="Segoe UI Light"/>
              </a:defRPr>
            </a:pPr>
            <a:r>
              <a:t>Testing model performance on unseen data (not used during training)</a:t>
            </a:r>
          </a:p>
          <a:p>
            <a:pPr>
              <a:spcBef>
                <a:spcPts val="600"/>
              </a:spcBef>
              <a:spcAft>
                <a:spcPts val="400"/>
              </a:spcAft>
              <a:defRPr sz="1800" b="0">
                <a:solidFill>
                  <a:srgbClr val="333333"/>
                </a:solidFill>
                <a:latin typeface="Segoe UI Light"/>
              </a:defRPr>
            </a:pPr>
            <a:r>
              <a:t>Essential for assessing generalization ability - how well model performs on new data</a:t>
            </a:r>
          </a:p>
          <a:p>
            <a:pPr>
              <a:spcBef>
                <a:spcPts val="600"/>
              </a:spcBef>
              <a:spcAft>
                <a:spcPts val="400"/>
              </a:spcAft>
              <a:defRPr sz="1800" b="0">
                <a:solidFill>
                  <a:srgbClr val="333333"/>
                </a:solidFill>
                <a:latin typeface="Segoe UI Light"/>
              </a:defRPr>
            </a:pPr>
            <a:r>
              <a:t>Common practice: Split data into training, validation, and test sets</a:t>
            </a:r>
          </a:p>
          <a:p>
            <a:pPr>
              <a:spcBef>
                <a:spcPts val="600"/>
              </a:spcBef>
              <a:spcAft>
                <a:spcPts val="400"/>
              </a:spcAft>
              <a:defRPr sz="1800" b="0">
                <a:solidFill>
                  <a:srgbClr val="333333"/>
                </a:solidFill>
                <a:latin typeface="Segoe UI Light"/>
              </a:defRPr>
            </a:pPr>
            <a:r>
              <a:t>Cross-validation: More robust technique using multiple train-test splits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A1A1A"/>
                </a:solidFill>
                <a:latin typeface="Segoe UI"/>
              </a:defRPr>
            </a:pPr>
            <a:r>
              <a:t>Critical Challenge: Overfitting</a:t>
            </a:r>
          </a:p>
        </p:txBody>
      </p:sp>
      <p:sp>
        <p:nvSpPr>
          <p:cNvPr id="3" name="Content Placeholder 2"/>
          <p:cNvSpPr>
            <a:spLocks noGrp="1"/>
          </p:cNvSpPr>
          <p:nvPr>
            <p:ph idx="1"/>
          </p:nvPr>
        </p:nvSpPr>
        <p:spPr/>
        <p:txBody>
          <a:bodyPr wrap="square"/>
          <a:lstStyle/>
          <a:p>
            <a:pPr>
              <a:spcBef>
                <a:spcPts val="600"/>
              </a:spcBef>
              <a:spcAft>
                <a:spcPts val="400"/>
              </a:spcAft>
              <a:defRPr sz="1800" b="0">
                <a:solidFill>
                  <a:srgbClr val="333333"/>
                </a:solidFill>
                <a:latin typeface="Segoe UI Light"/>
              </a:defRPr>
            </a:pPr>
            <a:r>
              <a:t>Definition: Model memorizes training data instead of learning general patterns</a:t>
            </a:r>
          </a:p>
          <a:p>
            <a:pPr>
              <a:spcBef>
                <a:spcPts val="600"/>
              </a:spcBef>
              <a:spcAft>
                <a:spcPts val="400"/>
              </a:spcAft>
              <a:defRPr sz="1800" b="0">
                <a:solidFill>
                  <a:srgbClr val="333333"/>
                </a:solidFill>
                <a:latin typeface="Segoe UI Light"/>
              </a:defRPr>
            </a:pPr>
            <a:r>
              <a:t>Symptoms: Excellent performance on training data, poor performance on new/unseen data</a:t>
            </a:r>
          </a:p>
          <a:p>
            <a:pPr>
              <a:spcBef>
                <a:spcPts val="600"/>
              </a:spcBef>
              <a:spcAft>
                <a:spcPts val="400"/>
              </a:spcAft>
              <a:defRPr sz="1800" b="0">
                <a:solidFill>
                  <a:srgbClr val="333333"/>
                </a:solidFill>
                <a:latin typeface="Segoe UI Light"/>
              </a:defRPr>
            </a:pPr>
            <a:r>
              <a:t>Analogy: Student who memorizes specific exam questions rather than understanding concepts</a:t>
            </a:r>
          </a:p>
          <a:p>
            <a:pPr>
              <a:spcBef>
                <a:spcPts val="600"/>
              </a:spcBef>
              <a:spcAft>
                <a:spcPts val="400"/>
              </a:spcAft>
              <a:defRPr sz="1800" b="0">
                <a:solidFill>
                  <a:srgbClr val="333333"/>
                </a:solidFill>
                <a:latin typeface="Segoe UI Light"/>
              </a:defRPr>
            </a:pPr>
            <a:r>
              <a:t>Causes:</a:t>
            </a:r>
          </a:p>
          <a:p>
            <a:pPr>
              <a:spcBef>
                <a:spcPts val="600"/>
              </a:spcBef>
              <a:spcAft>
                <a:spcPts val="400"/>
              </a:spcAft>
              <a:defRPr sz="1800" b="0">
                <a:solidFill>
                  <a:srgbClr val="333333"/>
                </a:solidFill>
                <a:latin typeface="Segoe UI Light"/>
              </a:defRPr>
            </a:pPr>
            <a:r>
              <a:t>Model too complex relative to amount of training data</a:t>
            </a:r>
          </a:p>
          <a:p>
            <a:pPr>
              <a:spcBef>
                <a:spcPts val="600"/>
              </a:spcBef>
              <a:spcAft>
                <a:spcPts val="400"/>
              </a:spcAft>
              <a:defRPr sz="1800" b="0">
                <a:solidFill>
                  <a:srgbClr val="333333"/>
                </a:solidFill>
                <a:latin typeface="Segoe UI Light"/>
              </a:defRPr>
            </a:pPr>
            <a:r>
              <a:t>Training for too many iterations (epochs)</a:t>
            </a:r>
          </a:p>
          <a:p>
            <a:pPr>
              <a:spcBef>
                <a:spcPts val="600"/>
              </a:spcBef>
              <a:spcAft>
                <a:spcPts val="400"/>
              </a:spcAft>
              <a:defRPr sz="1800" b="0">
                <a:solidFill>
                  <a:srgbClr val="333333"/>
                </a:solidFill>
                <a:latin typeface="Segoe UI Light"/>
              </a:defRPr>
            </a:pPr>
            <a:r>
              <a:t>Insufficient regularization</a:t>
            </a:r>
          </a:p>
          <a:p>
            <a:pPr>
              <a:spcBef>
                <a:spcPts val="600"/>
              </a:spcBef>
              <a:spcAft>
                <a:spcPts val="400"/>
              </a:spcAft>
              <a:defRPr sz="1800" b="0">
                <a:solidFill>
                  <a:srgbClr val="333333"/>
                </a:solidFill>
                <a:latin typeface="Segoe UI Light"/>
              </a:defRPr>
            </a:pPr>
            <a:r>
              <a:t>Noisy or unrepresentative training data</a:t>
            </a:r>
          </a:p>
          <a:p>
            <a:pPr>
              <a:spcBef>
                <a:spcPts val="600"/>
              </a:spcBef>
              <a:spcAft>
                <a:spcPts val="400"/>
              </a:spcAft>
              <a:defRPr sz="1800" b="0">
                <a:solidFill>
                  <a:srgbClr val="333333"/>
                </a:solidFill>
                <a:latin typeface="Segoe UI Light"/>
              </a:defRPr>
            </a:pPr>
            <a:r>
              <a:t>Prevention Techniques:</a:t>
            </a:r>
          </a:p>
          <a:p>
            <a:pPr>
              <a:spcBef>
                <a:spcPts val="600"/>
              </a:spcBef>
              <a:spcAft>
                <a:spcPts val="400"/>
              </a:spcAft>
              <a:defRPr sz="1800" b="0">
                <a:solidFill>
                  <a:srgbClr val="333333"/>
                </a:solidFill>
                <a:latin typeface="Segoe UI Light"/>
              </a:defRPr>
            </a:pPr>
            <a:r>
              <a:t>Regularization methods (L1, L2, dropout)</a:t>
            </a:r>
          </a:p>
          <a:p>
            <a:pPr>
              <a:spcBef>
                <a:spcPts val="600"/>
              </a:spcBef>
              <a:spcAft>
                <a:spcPts val="400"/>
              </a:spcAft>
              <a:defRPr sz="1800" b="0">
                <a:solidFill>
                  <a:srgbClr val="333333"/>
                </a:solidFill>
                <a:latin typeface="Segoe UI Light"/>
              </a:defRPr>
            </a:pPr>
            <a:r>
              <a:t>Early stopping (stop training when validation performance plateaus)</a:t>
            </a:r>
          </a:p>
          <a:p>
            <a:pPr>
              <a:spcBef>
                <a:spcPts val="600"/>
              </a:spcBef>
              <a:spcAft>
                <a:spcPts val="400"/>
              </a:spcAft>
              <a:defRPr sz="1800" b="0">
                <a:solidFill>
                  <a:srgbClr val="333333"/>
                </a:solidFill>
                <a:latin typeface="Segoe UI Light"/>
              </a:defRPr>
            </a:pPr>
            <a:r>
              <a:t>Increasing training data (data augmentation)</a:t>
            </a:r>
          </a:p>
          <a:p>
            <a:pPr>
              <a:spcBef>
                <a:spcPts val="600"/>
              </a:spcBef>
              <a:spcAft>
                <a:spcPts val="400"/>
              </a:spcAft>
              <a:defRPr sz="1800" b="0">
                <a:solidFill>
                  <a:srgbClr val="333333"/>
                </a:solidFill>
                <a:latin typeface="Segoe UI Light"/>
              </a:defRPr>
            </a:pPr>
            <a:r>
              <a:t>Simplifying model architecture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800" b="1">
                <a:solidFill>
                  <a:srgbClr val="00C896"/>
                </a:solidFill>
                <a:latin typeface="Segoe UI"/>
              </a:defRPr>
            </a:pPr>
            <a:r>
              <a:t>Section 3: Popular Machine Learning Frameworks</a:t>
            </a:r>
          </a:p>
        </p:txBody>
      </p:sp>
      <p:sp>
        <p:nvSpPr>
          <p:cNvPr id="3" name="Text Placeholder 2"/>
          <p:cNvSpPr>
            <a:spLocks noGrp="1"/>
          </p:cNvSpPr>
          <p:nvPr>
            <p:ph type="body" idx="1"/>
          </p:nvPr>
        </p:nvSpPr>
        <p:spPr/>
        <p:txBody>
          <a:bodyPr/>
          <a:lstStyle/>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A1A1A"/>
                </a:solidFill>
                <a:latin typeface="Segoe UI"/>
              </a:defRPr>
            </a:pPr>
            <a:r>
              <a:t>ML Framework Overview: TensorFlow</a:t>
            </a:r>
          </a:p>
        </p:txBody>
      </p:sp>
      <p:sp>
        <p:nvSpPr>
          <p:cNvPr id="3" name="Content Placeholder 2"/>
          <p:cNvSpPr>
            <a:spLocks noGrp="1"/>
          </p:cNvSpPr>
          <p:nvPr>
            <p:ph idx="1"/>
          </p:nvPr>
        </p:nvSpPr>
        <p:spPr/>
        <p:txBody>
          <a:bodyPr wrap="square"/>
          <a:lstStyle/>
          <a:p>
            <a:pPr>
              <a:spcBef>
                <a:spcPts val="600"/>
              </a:spcBef>
              <a:spcAft>
                <a:spcPts val="400"/>
              </a:spcAft>
              <a:defRPr sz="1800" b="0">
                <a:solidFill>
                  <a:srgbClr val="333333"/>
                </a:solidFill>
                <a:latin typeface="Segoe UI Light"/>
              </a:defRPr>
            </a:pPr>
            <a:r>
              <a:t>Developed by: Google Brain team, initially released in 2015</a:t>
            </a:r>
          </a:p>
          <a:p>
            <a:pPr>
              <a:spcBef>
                <a:spcPts val="600"/>
              </a:spcBef>
              <a:spcAft>
                <a:spcPts val="400"/>
              </a:spcAft>
              <a:defRPr sz="1800" b="0">
                <a:solidFill>
                  <a:srgbClr val="333333"/>
                </a:solidFill>
                <a:latin typeface="Segoe UI Light"/>
              </a:defRPr>
            </a:pPr>
            <a:r>
              <a:t>Key characteristics:</a:t>
            </a:r>
          </a:p>
          <a:p>
            <a:pPr>
              <a:spcBef>
                <a:spcPts val="600"/>
              </a:spcBef>
              <a:spcAft>
                <a:spcPts val="400"/>
              </a:spcAft>
              <a:defRPr sz="1800" b="0">
                <a:solidFill>
                  <a:srgbClr val="333333"/>
                </a:solidFill>
                <a:latin typeface="Segoe UI Light"/>
              </a:defRPr>
            </a:pPr>
            <a:r>
              <a:t>Comprehensive ecosystem for ML and deep learning</a:t>
            </a:r>
          </a:p>
          <a:p>
            <a:pPr>
              <a:spcBef>
                <a:spcPts val="600"/>
              </a:spcBef>
              <a:spcAft>
                <a:spcPts val="400"/>
              </a:spcAft>
              <a:defRPr sz="1800" b="0">
                <a:solidFill>
                  <a:srgbClr val="333333"/>
                </a:solidFill>
                <a:latin typeface="Segoe UI Light"/>
              </a:defRPr>
            </a:pPr>
            <a:r>
              <a:t>Uses dataflow graphs with nodes representing mathematical operations</a:t>
            </a:r>
          </a:p>
          <a:p>
            <a:pPr>
              <a:spcBef>
                <a:spcPts val="600"/>
              </a:spcBef>
              <a:spcAft>
                <a:spcPts val="400"/>
              </a:spcAft>
              <a:defRPr sz="1800" b="0">
                <a:solidFill>
                  <a:srgbClr val="333333"/>
                </a:solidFill>
                <a:latin typeface="Segoe UI Light"/>
              </a:defRPr>
            </a:pPr>
            <a:r>
              <a:t>Strong production deployment capabilities</a:t>
            </a:r>
          </a:p>
          <a:p>
            <a:pPr>
              <a:spcBef>
                <a:spcPts val="600"/>
              </a:spcBef>
              <a:spcAft>
                <a:spcPts val="400"/>
              </a:spcAft>
              <a:defRPr sz="1800" b="0">
                <a:solidFill>
                  <a:srgbClr val="333333"/>
                </a:solidFill>
                <a:latin typeface="Segoe UI Light"/>
              </a:defRPr>
            </a:pPr>
            <a:r>
              <a:t>Extensive community and pre-trained models</a:t>
            </a:r>
          </a:p>
          <a:p>
            <a:pPr>
              <a:spcBef>
                <a:spcPts val="600"/>
              </a:spcBef>
              <a:spcAft>
                <a:spcPts val="400"/>
              </a:spcAft>
              <a:defRPr sz="1800" b="0">
                <a:solidFill>
                  <a:srgbClr val="333333"/>
                </a:solidFill>
                <a:latin typeface="Segoe UI Light"/>
              </a:defRPr>
            </a:pPr>
            <a:r>
              <a:t>Primary use cases:</a:t>
            </a:r>
          </a:p>
          <a:p>
            <a:pPr>
              <a:spcBef>
                <a:spcPts val="600"/>
              </a:spcBef>
              <a:spcAft>
                <a:spcPts val="400"/>
              </a:spcAft>
              <a:defRPr sz="1800" b="0">
                <a:solidFill>
                  <a:srgbClr val="333333"/>
                </a:solidFill>
                <a:latin typeface="Segoe UI Light"/>
              </a:defRPr>
            </a:pPr>
            <a:r>
              <a:t>Large-scale deep learning applications</a:t>
            </a:r>
          </a:p>
          <a:p>
            <a:pPr>
              <a:spcBef>
                <a:spcPts val="600"/>
              </a:spcBef>
              <a:spcAft>
                <a:spcPts val="400"/>
              </a:spcAft>
              <a:defRPr sz="1800" b="0">
                <a:solidFill>
                  <a:srgbClr val="333333"/>
                </a:solidFill>
                <a:latin typeface="Segoe UI Light"/>
              </a:defRPr>
            </a:pPr>
            <a:r>
              <a:t>Production ML systems</a:t>
            </a:r>
          </a:p>
          <a:p>
            <a:pPr>
              <a:spcBef>
                <a:spcPts val="600"/>
              </a:spcBef>
              <a:spcAft>
                <a:spcPts val="400"/>
              </a:spcAft>
              <a:defRPr sz="1800" b="0">
                <a:solidFill>
                  <a:srgbClr val="333333"/>
                </a:solidFill>
                <a:latin typeface="Segoe UI Light"/>
              </a:defRPr>
            </a:pPr>
            <a:r>
              <a:t>Research and experimentation</a:t>
            </a:r>
          </a:p>
          <a:p>
            <a:pPr>
              <a:spcBef>
                <a:spcPts val="600"/>
              </a:spcBef>
              <a:spcAft>
                <a:spcPts val="400"/>
              </a:spcAft>
              <a:defRPr sz="1800" b="0">
                <a:solidFill>
                  <a:srgbClr val="333333"/>
                </a:solidFill>
                <a:latin typeface="Segoe UI Light"/>
              </a:defRPr>
            </a:pPr>
            <a:r>
              <a:t>Mobile and embedded deployment (TensorFlow Lite)</a:t>
            </a:r>
          </a:p>
          <a:p>
            <a:pPr>
              <a:spcBef>
                <a:spcPts val="600"/>
              </a:spcBef>
              <a:spcAft>
                <a:spcPts val="400"/>
              </a:spcAft>
              <a:defRPr sz="1800" b="0">
                <a:solidFill>
                  <a:srgbClr val="333333"/>
                </a:solidFill>
                <a:latin typeface="Segoe UI Light"/>
              </a:defRPr>
            </a:pPr>
            <a:r>
              <a:t>Notable features:</a:t>
            </a:r>
          </a:p>
          <a:p>
            <a:pPr>
              <a:spcBef>
                <a:spcPts val="600"/>
              </a:spcBef>
              <a:spcAft>
                <a:spcPts val="400"/>
              </a:spcAft>
              <a:defRPr sz="1800" b="0">
                <a:solidFill>
                  <a:srgbClr val="333333"/>
                </a:solidFill>
                <a:latin typeface="Segoe UI Light"/>
              </a:defRPr>
            </a:pPr>
            <a:r>
              <a:t>TensorBoard for visualization</a:t>
            </a:r>
          </a:p>
          <a:p>
            <a:pPr>
              <a:spcBef>
                <a:spcPts val="600"/>
              </a:spcBef>
              <a:spcAft>
                <a:spcPts val="400"/>
              </a:spcAft>
              <a:defRPr sz="1800" b="0">
                <a:solidFill>
                  <a:srgbClr val="333333"/>
                </a:solidFill>
                <a:latin typeface="Segoe UI Light"/>
              </a:defRPr>
            </a:pPr>
            <a:r>
              <a:t>Keras integrated as high-level API</a:t>
            </a:r>
          </a:p>
          <a:p>
            <a:pPr>
              <a:spcBef>
                <a:spcPts val="600"/>
              </a:spcBef>
              <a:spcAft>
                <a:spcPts val="400"/>
              </a:spcAft>
              <a:defRPr sz="1800" b="0">
                <a:solidFill>
                  <a:srgbClr val="333333"/>
                </a:solidFill>
                <a:latin typeface="Segoe UI Light"/>
              </a:defRPr>
            </a:pPr>
            <a:r>
              <a:t>Distributed training support</a:t>
            </a:r>
          </a:p>
          <a:p>
            <a:pPr>
              <a:spcBef>
                <a:spcPts val="600"/>
              </a:spcBef>
              <a:spcAft>
                <a:spcPts val="400"/>
              </a:spcAft>
              <a:defRPr sz="1800" b="0">
                <a:solidFill>
                  <a:srgbClr val="333333"/>
                </a:solidFill>
                <a:latin typeface="Segoe UI Light"/>
              </a:defRPr>
            </a:pPr>
            <a:r>
              <a:t>Model serving with TensorFlow Serving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A1A1A"/>
                </a:solidFill>
                <a:latin typeface="Segoe UI"/>
              </a:defRPr>
            </a:pPr>
            <a:r>
              <a:t>ML Framework Overview: PyTorch</a:t>
            </a:r>
          </a:p>
        </p:txBody>
      </p:sp>
      <p:sp>
        <p:nvSpPr>
          <p:cNvPr id="3" name="Content Placeholder 2"/>
          <p:cNvSpPr>
            <a:spLocks noGrp="1"/>
          </p:cNvSpPr>
          <p:nvPr>
            <p:ph idx="1"/>
          </p:nvPr>
        </p:nvSpPr>
        <p:spPr/>
        <p:txBody>
          <a:bodyPr wrap="square"/>
          <a:lstStyle/>
          <a:p>
            <a:pPr>
              <a:spcBef>
                <a:spcPts val="600"/>
              </a:spcBef>
              <a:spcAft>
                <a:spcPts val="400"/>
              </a:spcAft>
              <a:defRPr sz="1800" b="0">
                <a:solidFill>
                  <a:srgbClr val="333333"/>
                </a:solidFill>
                <a:latin typeface="Segoe UI Light"/>
              </a:defRPr>
            </a:pPr>
            <a:r>
              <a:t>Developed by: Facebook's AI Research lab (FAIR), initially released in 2016</a:t>
            </a:r>
          </a:p>
          <a:p>
            <a:pPr>
              <a:spcBef>
                <a:spcPts val="600"/>
              </a:spcBef>
              <a:spcAft>
                <a:spcPts val="400"/>
              </a:spcAft>
              <a:defRPr sz="1800" b="0">
                <a:solidFill>
                  <a:srgbClr val="333333"/>
                </a:solidFill>
                <a:latin typeface="Segoe UI Light"/>
              </a:defRPr>
            </a:pPr>
            <a:r>
              <a:t>Key characteristics:</a:t>
            </a:r>
          </a:p>
          <a:p>
            <a:pPr>
              <a:spcBef>
                <a:spcPts val="600"/>
              </a:spcBef>
              <a:spcAft>
                <a:spcPts val="400"/>
              </a:spcAft>
              <a:defRPr sz="1800" b="0">
                <a:solidFill>
                  <a:srgbClr val="333333"/>
                </a:solidFill>
                <a:latin typeface="Segoe UI Light"/>
              </a:defRPr>
            </a:pPr>
            <a:r>
              <a:t>Dynamic computational graphs (define-by-run)</a:t>
            </a:r>
          </a:p>
          <a:p>
            <a:pPr>
              <a:spcBef>
                <a:spcPts val="600"/>
              </a:spcBef>
              <a:spcAft>
                <a:spcPts val="400"/>
              </a:spcAft>
              <a:defRPr sz="1800" b="0">
                <a:solidFill>
                  <a:srgbClr val="333333"/>
                </a:solidFill>
                <a:latin typeface="Segoe UI Light"/>
              </a:defRPr>
            </a:pPr>
            <a:r>
              <a:t>Pythonic design and intuitive API</a:t>
            </a:r>
          </a:p>
          <a:p>
            <a:pPr>
              <a:spcBef>
                <a:spcPts val="600"/>
              </a:spcBef>
              <a:spcAft>
                <a:spcPts val="400"/>
              </a:spcAft>
              <a:defRPr sz="1800" b="0">
                <a:solidFill>
                  <a:srgbClr val="333333"/>
                </a:solidFill>
                <a:latin typeface="Segoe UI Light"/>
              </a:defRPr>
            </a:pPr>
            <a:r>
              <a:t>Strong research community adoption</a:t>
            </a:r>
          </a:p>
          <a:p>
            <a:pPr>
              <a:spcBef>
                <a:spcPts val="600"/>
              </a:spcBef>
              <a:spcAft>
                <a:spcPts val="400"/>
              </a:spcAft>
              <a:defRPr sz="1800" b="0">
                <a:solidFill>
                  <a:srgbClr val="333333"/>
                </a:solidFill>
                <a:latin typeface="Segoe UI Light"/>
              </a:defRPr>
            </a:pPr>
            <a:r>
              <a:t>Excellent debugging capabilities</a:t>
            </a:r>
          </a:p>
          <a:p>
            <a:pPr>
              <a:spcBef>
                <a:spcPts val="600"/>
              </a:spcBef>
              <a:spcAft>
                <a:spcPts val="400"/>
              </a:spcAft>
              <a:defRPr sz="1800" b="0">
                <a:solidFill>
                  <a:srgbClr val="333333"/>
                </a:solidFill>
                <a:latin typeface="Segoe UI Light"/>
              </a:defRPr>
            </a:pPr>
            <a:r>
              <a:t>Primary use cases:</a:t>
            </a:r>
          </a:p>
          <a:p>
            <a:pPr>
              <a:spcBef>
                <a:spcPts val="600"/>
              </a:spcBef>
              <a:spcAft>
                <a:spcPts val="400"/>
              </a:spcAft>
              <a:defRPr sz="1800" b="0">
                <a:solidFill>
                  <a:srgbClr val="333333"/>
                </a:solidFill>
                <a:latin typeface="Segoe UI Light"/>
              </a:defRPr>
            </a:pPr>
            <a:r>
              <a:t>Academic research and prototyping</a:t>
            </a:r>
          </a:p>
          <a:p>
            <a:pPr>
              <a:spcBef>
                <a:spcPts val="600"/>
              </a:spcBef>
              <a:spcAft>
                <a:spcPts val="400"/>
              </a:spcAft>
              <a:defRPr sz="1800" b="0">
                <a:solidFill>
                  <a:srgbClr val="333333"/>
                </a:solidFill>
                <a:latin typeface="Segoe UI Light"/>
              </a:defRPr>
            </a:pPr>
            <a:r>
              <a:t>Computer vision and natural language processing</a:t>
            </a:r>
          </a:p>
          <a:p>
            <a:pPr>
              <a:spcBef>
                <a:spcPts val="600"/>
              </a:spcBef>
              <a:spcAft>
                <a:spcPts val="400"/>
              </a:spcAft>
              <a:defRPr sz="1800" b="0">
                <a:solidFill>
                  <a:srgbClr val="333333"/>
                </a:solidFill>
                <a:latin typeface="Segoe UI Light"/>
              </a:defRPr>
            </a:pPr>
            <a:r>
              <a:t>Rapid experimentation and iteration</a:t>
            </a:r>
          </a:p>
          <a:p>
            <a:pPr>
              <a:spcBef>
                <a:spcPts val="600"/>
              </a:spcBef>
              <a:spcAft>
                <a:spcPts val="400"/>
              </a:spcAft>
              <a:defRPr sz="1800" b="0">
                <a:solidFill>
                  <a:srgbClr val="333333"/>
                </a:solidFill>
                <a:latin typeface="Segoe UI Light"/>
              </a:defRPr>
            </a:pPr>
            <a:r>
              <a:t>Production deployment (improving with TorchServe)</a:t>
            </a:r>
          </a:p>
          <a:p>
            <a:pPr>
              <a:spcBef>
                <a:spcPts val="600"/>
              </a:spcBef>
              <a:spcAft>
                <a:spcPts val="400"/>
              </a:spcAft>
              <a:defRPr sz="1800" b="0">
                <a:solidFill>
                  <a:srgbClr val="333333"/>
                </a:solidFill>
                <a:latin typeface="Segoe UI Light"/>
              </a:defRPr>
            </a:pPr>
            <a:r>
              <a:t>Notable features:</a:t>
            </a:r>
          </a:p>
          <a:p>
            <a:pPr>
              <a:spcBef>
                <a:spcPts val="600"/>
              </a:spcBef>
              <a:spcAft>
                <a:spcPts val="400"/>
              </a:spcAft>
              <a:defRPr sz="1800" b="0">
                <a:solidFill>
                  <a:srgbClr val="333333"/>
                </a:solidFill>
                <a:latin typeface="Segoe UI Light"/>
              </a:defRPr>
            </a:pPr>
            <a:r>
              <a:t>TorchScript for production deployment</a:t>
            </a:r>
          </a:p>
          <a:p>
            <a:pPr>
              <a:spcBef>
                <a:spcPts val="600"/>
              </a:spcBef>
              <a:spcAft>
                <a:spcPts val="400"/>
              </a:spcAft>
              <a:defRPr sz="1800" b="0">
                <a:solidFill>
                  <a:srgbClr val="333333"/>
                </a:solidFill>
                <a:latin typeface="Segoe UI Light"/>
              </a:defRPr>
            </a:pPr>
            <a:r>
              <a:t>Distributed training with torch.distributed</a:t>
            </a:r>
          </a:p>
          <a:p>
            <a:pPr>
              <a:spcBef>
                <a:spcPts val="600"/>
              </a:spcBef>
              <a:spcAft>
                <a:spcPts val="400"/>
              </a:spcAft>
              <a:defRPr sz="1800" b="0">
                <a:solidFill>
                  <a:srgbClr val="333333"/>
                </a:solidFill>
                <a:latin typeface="Segoe UI Light"/>
              </a:defRPr>
            </a:pPr>
            <a:r>
              <a:t>Rich ecosystem of libraries (TorchVision, TorchText, TorchAudio)</a:t>
            </a:r>
          </a:p>
          <a:p>
            <a:pPr>
              <a:spcBef>
                <a:spcPts val="600"/>
              </a:spcBef>
              <a:spcAft>
                <a:spcPts val="400"/>
              </a:spcAft>
              <a:defRPr sz="1800" b="0">
                <a:solidFill>
                  <a:srgbClr val="333333"/>
                </a:solidFill>
                <a:latin typeface="Segoe UI Light"/>
              </a:defRPr>
            </a:pPr>
            <a:r>
              <a:t>Strong GPU acceleration support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A1A1A"/>
                </a:solidFill>
                <a:latin typeface="Segoe UI"/>
              </a:defRPr>
            </a:pPr>
            <a:r>
              <a:t>ML Framework Comparison: TensorFlow vs. PyTorch</a:t>
            </a:r>
          </a:p>
        </p:txBody>
      </p:sp>
      <p:sp>
        <p:nvSpPr>
          <p:cNvPr id="3" name="Content Placeholder 2"/>
          <p:cNvSpPr>
            <a:spLocks noGrp="1"/>
          </p:cNvSpPr>
          <p:nvPr>
            <p:ph idx="1"/>
          </p:nvPr>
        </p:nvSpPr>
        <p:spPr/>
        <p:txBody>
          <a:bodyPr wrap="square"/>
          <a:lstStyle/>
          <a:p>
            <a:pPr>
              <a:spcBef>
                <a:spcPts val="600"/>
              </a:spcBef>
              <a:spcAft>
                <a:spcPts val="400"/>
              </a:spcAft>
              <a:defRPr sz="1800" b="0">
                <a:solidFill>
                  <a:srgbClr val="333333"/>
                </a:solidFill>
                <a:latin typeface="Segoe UI Light"/>
              </a:defRPr>
            </a:pPr>
            <a:r>
              <a:t>Computational Graph:</a:t>
            </a:r>
          </a:p>
          <a:p>
            <a:pPr>
              <a:spcBef>
                <a:spcPts val="600"/>
              </a:spcBef>
              <a:spcAft>
                <a:spcPts val="400"/>
              </a:spcAft>
              <a:defRPr sz="1800" b="0">
                <a:solidFill>
                  <a:srgbClr val="333333"/>
                </a:solidFill>
                <a:latin typeface="Segoe UI Light"/>
              </a:defRPr>
            </a:pPr>
            <a:r>
              <a:t>TensorFlow: Static (define-and-run), though TF 2.x supports eager execution</a:t>
            </a:r>
          </a:p>
          <a:p>
            <a:pPr>
              <a:spcBef>
                <a:spcPts val="600"/>
              </a:spcBef>
              <a:spcAft>
                <a:spcPts val="400"/>
              </a:spcAft>
              <a:defRPr sz="1800" b="0">
                <a:solidFill>
                  <a:srgbClr val="333333"/>
                </a:solidFill>
                <a:latin typeface="Segoe UI Light"/>
              </a:defRPr>
            </a:pPr>
            <a:r>
              <a:t>PyTorch: Dynamic (define-by-run), more intuitive for debugging</a:t>
            </a:r>
          </a:p>
          <a:p>
            <a:pPr>
              <a:spcBef>
                <a:spcPts val="600"/>
              </a:spcBef>
              <a:spcAft>
                <a:spcPts val="400"/>
              </a:spcAft>
              <a:defRPr sz="1800" b="0">
                <a:solidFill>
                  <a:srgbClr val="333333"/>
                </a:solidFill>
                <a:latin typeface="Segoe UI Light"/>
              </a:defRPr>
            </a:pPr>
            <a:r>
              <a:t>Learning Curve:</a:t>
            </a:r>
          </a:p>
          <a:p>
            <a:pPr>
              <a:spcBef>
                <a:spcPts val="600"/>
              </a:spcBef>
              <a:spcAft>
                <a:spcPts val="400"/>
              </a:spcAft>
              <a:defRPr sz="1800" b="0">
                <a:solidFill>
                  <a:srgbClr val="333333"/>
                </a:solidFill>
                <a:latin typeface="Segoe UI Light"/>
              </a:defRPr>
            </a:pPr>
            <a:r>
              <a:t>TensorFlow: Historically steeper, improved with Keras integration</a:t>
            </a:r>
          </a:p>
          <a:p>
            <a:pPr>
              <a:spcBef>
                <a:spcPts val="600"/>
              </a:spcBef>
              <a:spcAft>
                <a:spcPts val="400"/>
              </a:spcAft>
              <a:defRPr sz="1800" b="0">
                <a:solidFill>
                  <a:srgbClr val="333333"/>
                </a:solidFill>
                <a:latin typeface="Segoe UI Light"/>
              </a:defRPr>
            </a:pPr>
            <a:r>
              <a:t>PyTorch: More Pythonic, easier for beginners</a:t>
            </a:r>
          </a:p>
          <a:p>
            <a:pPr>
              <a:spcBef>
                <a:spcPts val="600"/>
              </a:spcBef>
              <a:spcAft>
                <a:spcPts val="400"/>
              </a:spcAft>
              <a:defRPr sz="1800" b="0">
                <a:solidFill>
                  <a:srgbClr val="333333"/>
                </a:solidFill>
                <a:latin typeface="Segoe UI Light"/>
              </a:defRPr>
            </a:pPr>
            <a:r>
              <a:t>Production Readiness:</a:t>
            </a:r>
          </a:p>
          <a:p>
            <a:pPr>
              <a:spcBef>
                <a:spcPts val="600"/>
              </a:spcBef>
              <a:spcAft>
                <a:spcPts val="400"/>
              </a:spcAft>
              <a:defRPr sz="1800" b="0">
                <a:solidFill>
                  <a:srgbClr val="333333"/>
                </a:solidFill>
                <a:latin typeface="Segoe UI Light"/>
              </a:defRPr>
            </a:pPr>
            <a:r>
              <a:t>TensorFlow: Mature production tools (TF Serving, TF Lite, TF.js)</a:t>
            </a:r>
          </a:p>
          <a:p>
            <a:pPr>
              <a:spcBef>
                <a:spcPts val="600"/>
              </a:spcBef>
              <a:spcAft>
                <a:spcPts val="400"/>
              </a:spcAft>
              <a:defRPr sz="1800" b="0">
                <a:solidFill>
                  <a:srgbClr val="333333"/>
                </a:solidFill>
                <a:latin typeface="Segoe UI Light"/>
              </a:defRPr>
            </a:pPr>
            <a:r>
              <a:t>PyTorch: Improving with TorchServe, but historically research-focused</a:t>
            </a:r>
          </a:p>
          <a:p>
            <a:pPr>
              <a:spcBef>
                <a:spcPts val="600"/>
              </a:spcBef>
              <a:spcAft>
                <a:spcPts val="400"/>
              </a:spcAft>
              <a:defRPr sz="1800" b="0">
                <a:solidFill>
                  <a:srgbClr val="333333"/>
                </a:solidFill>
                <a:latin typeface="Segoe UI Light"/>
              </a:defRPr>
            </a:pPr>
            <a:r>
              <a:t>Community &amp; Ecosystem:</a:t>
            </a:r>
          </a:p>
          <a:p>
            <a:pPr>
              <a:spcBef>
                <a:spcPts val="600"/>
              </a:spcBef>
              <a:spcAft>
                <a:spcPts val="400"/>
              </a:spcAft>
              <a:defRPr sz="1800" b="0">
                <a:solidFill>
                  <a:srgbClr val="333333"/>
                </a:solidFill>
                <a:latin typeface="Segoe UI Light"/>
              </a:defRPr>
            </a:pPr>
            <a:r>
              <a:t>TensorFlow: Larger overall community, strong industry adoption</a:t>
            </a:r>
          </a:p>
          <a:p>
            <a:pPr>
              <a:spcBef>
                <a:spcPts val="600"/>
              </a:spcBef>
              <a:spcAft>
                <a:spcPts val="400"/>
              </a:spcAft>
              <a:defRPr sz="1800" b="0">
                <a:solidFill>
                  <a:srgbClr val="333333"/>
                </a:solidFill>
                <a:latin typeface="Segoe UI Light"/>
              </a:defRPr>
            </a:pPr>
            <a:r>
              <a:t>PyTorch: Strong research community, growing industry adoption</a:t>
            </a:r>
          </a:p>
          <a:p>
            <a:pPr>
              <a:spcBef>
                <a:spcPts val="600"/>
              </a:spcBef>
              <a:spcAft>
                <a:spcPts val="400"/>
              </a:spcAft>
              <a:defRPr sz="1800" b="0">
                <a:solidFill>
                  <a:srgbClr val="333333"/>
                </a:solidFill>
                <a:latin typeface="Segoe UI Light"/>
              </a:defRPr>
            </a:pPr>
            <a:r>
              <a:t>Performance:</a:t>
            </a:r>
          </a:p>
          <a:p>
            <a:pPr>
              <a:spcBef>
                <a:spcPts val="600"/>
              </a:spcBef>
              <a:spcAft>
                <a:spcPts val="400"/>
              </a:spcAft>
              <a:defRPr sz="1800" b="0">
                <a:solidFill>
                  <a:srgbClr val="333333"/>
                </a:solidFill>
                <a:latin typeface="Segoe UI Light"/>
              </a:defRPr>
            </a:pPr>
            <a:r>
              <a:t>Both offer excellent GPU acceleration and distributed training</a:t>
            </a:r>
          </a:p>
          <a:p>
            <a:pPr>
              <a:spcBef>
                <a:spcPts val="600"/>
              </a:spcBef>
              <a:spcAft>
                <a:spcPts val="400"/>
              </a:spcAft>
              <a:defRPr sz="1800" b="0">
                <a:solidFill>
                  <a:srgbClr val="333333"/>
                </a:solidFill>
                <a:latin typeface="Segoe UI Light"/>
              </a:defRPr>
            </a:pPr>
            <a:r>
              <a:t>Performance differences often depend on specific use case and implementation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A1A1A"/>
                </a:solidFill>
                <a:latin typeface="Segoe UI"/>
              </a:defRPr>
            </a:pPr>
            <a:r>
              <a:t>Additional ML Frameworks: scikit-learn and Keras</a:t>
            </a:r>
          </a:p>
        </p:txBody>
      </p:sp>
      <p:sp>
        <p:nvSpPr>
          <p:cNvPr id="3" name="Content Placeholder 2"/>
          <p:cNvSpPr>
            <a:spLocks noGrp="1"/>
          </p:cNvSpPr>
          <p:nvPr>
            <p:ph idx="1"/>
          </p:nvPr>
        </p:nvSpPr>
        <p:spPr/>
        <p:txBody>
          <a:bodyPr wrap="square"/>
          <a:lstStyle/>
          <a:p>
            <a:pPr>
              <a:spcBef>
                <a:spcPts val="600"/>
              </a:spcBef>
              <a:spcAft>
                <a:spcPts val="400"/>
              </a:spcAft>
              <a:defRPr sz="1800" b="0">
                <a:solidFill>
                  <a:srgbClr val="333333"/>
                </a:solidFill>
                <a:latin typeface="Segoe UI Light"/>
              </a:defRPr>
            </a:pPr>
            <a:r>
              <a:t>scikit-learn:</a:t>
            </a:r>
          </a:p>
          <a:p>
            <a:pPr>
              <a:spcBef>
                <a:spcPts val="600"/>
              </a:spcBef>
              <a:spcAft>
                <a:spcPts val="400"/>
              </a:spcAft>
              <a:defRPr sz="1800" b="0">
                <a:solidFill>
                  <a:srgbClr val="333333"/>
                </a:solidFill>
                <a:latin typeface="Segoe UI Light"/>
              </a:defRPr>
            </a:pPr>
            <a:r>
              <a:t>Developed by: Community-driven project, initially by David Cournapeau</a:t>
            </a:r>
          </a:p>
          <a:p>
            <a:pPr>
              <a:spcBef>
                <a:spcPts val="600"/>
              </a:spcBef>
              <a:spcAft>
                <a:spcPts val="400"/>
              </a:spcAft>
              <a:defRPr sz="1800" b="0">
                <a:solidFill>
                  <a:srgbClr val="333333"/>
                </a:solidFill>
                <a:latin typeface="Segoe UI Light"/>
              </a:defRPr>
            </a:pPr>
            <a:r>
              <a:t>Focus: Traditional ML algorithms (not deep learning)</a:t>
            </a:r>
          </a:p>
          <a:p>
            <a:pPr>
              <a:spcBef>
                <a:spcPts val="600"/>
              </a:spcBef>
              <a:spcAft>
                <a:spcPts val="400"/>
              </a:spcAft>
              <a:defRPr sz="1800" b="0">
                <a:solidFill>
                  <a:srgbClr val="333333"/>
                </a:solidFill>
                <a:latin typeface="Segoe UI Light"/>
              </a:defRPr>
            </a:pPr>
            <a:r>
              <a:t>Strengths: Clean API, excellent documentation, comprehensive algorithm coverage</a:t>
            </a:r>
          </a:p>
          <a:p>
            <a:pPr>
              <a:spcBef>
                <a:spcPts val="600"/>
              </a:spcBef>
              <a:spcAft>
                <a:spcPts val="400"/>
              </a:spcAft>
              <a:defRPr sz="1800" b="0">
                <a:solidFill>
                  <a:srgbClr val="333333"/>
                </a:solidFill>
                <a:latin typeface="Segoe UI Light"/>
              </a:defRPr>
            </a:pPr>
            <a:r>
              <a:t>Ideal for: Data mining, classical ML tasks, educational purposes</a:t>
            </a:r>
          </a:p>
          <a:p>
            <a:pPr>
              <a:spcBef>
                <a:spcPts val="600"/>
              </a:spcBef>
              <a:spcAft>
                <a:spcPts val="400"/>
              </a:spcAft>
              <a:defRPr sz="1800" b="0">
                <a:solidFill>
                  <a:srgbClr val="333333"/>
                </a:solidFill>
                <a:latin typeface="Segoe UI Light"/>
              </a:defRPr>
            </a:pPr>
            <a:r>
              <a:t>Algorithms included: Classification, regression, clustering, dimensionality reduction, model selection</a:t>
            </a:r>
          </a:p>
          <a:p>
            <a:pPr>
              <a:spcBef>
                <a:spcPts val="600"/>
              </a:spcBef>
              <a:spcAft>
                <a:spcPts val="400"/>
              </a:spcAft>
              <a:defRPr sz="1800" b="0">
                <a:solidFill>
                  <a:srgbClr val="333333"/>
                </a:solidFill>
                <a:latin typeface="Segoe UI Light"/>
              </a:defRPr>
            </a:pPr>
            <a:r>
              <a:t>Keras:</a:t>
            </a:r>
          </a:p>
          <a:p>
            <a:pPr>
              <a:spcBef>
                <a:spcPts val="600"/>
              </a:spcBef>
              <a:spcAft>
                <a:spcPts val="400"/>
              </a:spcAft>
              <a:defRPr sz="1800" b="0">
                <a:solidFill>
                  <a:srgbClr val="333333"/>
                </a:solidFill>
                <a:latin typeface="Segoe UI Light"/>
              </a:defRPr>
            </a:pPr>
            <a:r>
              <a:t>Originally: Independent high-level neural networks API</a:t>
            </a:r>
          </a:p>
          <a:p>
            <a:pPr>
              <a:spcBef>
                <a:spcPts val="600"/>
              </a:spcBef>
              <a:spcAft>
                <a:spcPts val="400"/>
              </a:spcAft>
              <a:defRPr sz="1800" b="0">
                <a:solidFill>
                  <a:srgbClr val="333333"/>
                </a:solidFill>
                <a:latin typeface="Segoe UI Light"/>
              </a:defRPr>
            </a:pPr>
            <a:r>
              <a:t>Current: Integrated as TensorFlow's official high-level API</a:t>
            </a:r>
          </a:p>
          <a:p>
            <a:pPr>
              <a:spcBef>
                <a:spcPts val="600"/>
              </a:spcBef>
              <a:spcAft>
                <a:spcPts val="400"/>
              </a:spcAft>
              <a:defRPr sz="1800" b="0">
                <a:solidFill>
                  <a:srgbClr val="333333"/>
                </a:solidFill>
                <a:latin typeface="Segoe UI Light"/>
              </a:defRPr>
            </a:pPr>
            <a:r>
              <a:t>Design philosophy: User-friendly, modular, extensible</a:t>
            </a:r>
          </a:p>
          <a:p>
            <a:pPr>
              <a:spcBef>
                <a:spcPts val="600"/>
              </a:spcBef>
              <a:spcAft>
                <a:spcPts val="400"/>
              </a:spcAft>
              <a:defRPr sz="1800" b="0">
                <a:solidFill>
                  <a:srgbClr val="333333"/>
                </a:solidFill>
                <a:latin typeface="Segoe UI Light"/>
              </a:defRPr>
            </a:pPr>
            <a:r>
              <a:t>Enables: Rapid prototyping of deep learning models</a:t>
            </a:r>
          </a:p>
          <a:p>
            <a:pPr>
              <a:spcBef>
                <a:spcPts val="600"/>
              </a:spcBef>
              <a:spcAft>
                <a:spcPts val="400"/>
              </a:spcAft>
              <a:defRPr sz="1800" b="0">
                <a:solidFill>
                  <a:srgbClr val="333333"/>
                </a:solidFill>
                <a:latin typeface="Segoe UI Light"/>
              </a:defRPr>
            </a:pPr>
            <a:r>
              <a:t>Runs on: TensorFlow, Theano, or CNTK backends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800" b="1">
                <a:solidFill>
                  <a:srgbClr val="00C896"/>
                </a:solidFill>
                <a:latin typeface="Segoe UI"/>
              </a:defRPr>
            </a:pPr>
            <a:r>
              <a:t>Section 4: Machine Learning in Practice</a:t>
            </a:r>
          </a:p>
        </p:txBody>
      </p:sp>
      <p:sp>
        <p:nvSpPr>
          <p:cNvPr id="3" name="Text Placeholder 2"/>
          <p:cNvSpPr>
            <a:spLocks noGrp="1"/>
          </p:cNvSpPr>
          <p:nvPr>
            <p:ph type="body" idx="1"/>
          </p:nvPr>
        </p:nvSpPr>
        <p:spPr/>
        <p:txBody>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A1A1A"/>
                </a:solidFill>
                <a:latin typeface="Segoe UI"/>
              </a:defRPr>
            </a:pPr>
            <a:r>
              <a:t>Industry Transformation Through Machine Learning</a:t>
            </a:r>
          </a:p>
        </p:txBody>
      </p:sp>
      <p:sp>
        <p:nvSpPr>
          <p:cNvPr id="3" name="Content Placeholder 2"/>
          <p:cNvSpPr>
            <a:spLocks noGrp="1"/>
          </p:cNvSpPr>
          <p:nvPr>
            <p:ph idx="1"/>
          </p:nvPr>
        </p:nvSpPr>
        <p:spPr/>
        <p:txBody>
          <a:bodyPr wrap="square"/>
          <a:lstStyle/>
          <a:p>
            <a:pPr>
              <a:spcBef>
                <a:spcPts val="600"/>
              </a:spcBef>
              <a:spcAft>
                <a:spcPts val="400"/>
              </a:spcAft>
              <a:defRPr sz="1800" b="0">
                <a:solidFill>
                  <a:srgbClr val="333333"/>
                </a:solidFill>
                <a:latin typeface="Segoe UI Light"/>
              </a:defRPr>
            </a:pPr>
            <a:r>
              <a:t>Healthcare Applications:</a:t>
            </a:r>
          </a:p>
          <a:p>
            <a:pPr>
              <a:spcBef>
                <a:spcPts val="600"/>
              </a:spcBef>
              <a:spcAft>
                <a:spcPts val="400"/>
              </a:spcAft>
              <a:defRPr sz="1800" b="0">
                <a:solidFill>
                  <a:srgbClr val="333333"/>
                </a:solidFill>
                <a:latin typeface="Segoe UI Light"/>
              </a:defRPr>
            </a:pPr>
            <a:r>
              <a:t>Medical imaging analysis (detecting tumors in X-rays, MRIs)</a:t>
            </a:r>
          </a:p>
          <a:p>
            <a:pPr>
              <a:spcBef>
                <a:spcPts val="600"/>
              </a:spcBef>
              <a:spcAft>
                <a:spcPts val="400"/>
              </a:spcAft>
              <a:defRPr sz="1800" b="0">
                <a:solidFill>
                  <a:srgbClr val="333333"/>
                </a:solidFill>
                <a:latin typeface="Segoe UI Light"/>
              </a:defRPr>
            </a:pPr>
            <a:r>
              <a:t>Drug discovery and development</a:t>
            </a:r>
          </a:p>
          <a:p>
            <a:pPr>
              <a:spcBef>
                <a:spcPts val="600"/>
              </a:spcBef>
              <a:spcAft>
                <a:spcPts val="400"/>
              </a:spcAft>
              <a:defRPr sz="1800" b="0">
                <a:solidFill>
                  <a:srgbClr val="333333"/>
                </a:solidFill>
                <a:latin typeface="Segoe UI Light"/>
              </a:defRPr>
            </a:pPr>
            <a:r>
              <a:t>Personalized treatment recommendations</a:t>
            </a:r>
          </a:p>
          <a:p>
            <a:pPr>
              <a:spcBef>
                <a:spcPts val="600"/>
              </a:spcBef>
              <a:spcAft>
                <a:spcPts val="400"/>
              </a:spcAft>
              <a:defRPr sz="1800" b="0">
                <a:solidFill>
                  <a:srgbClr val="333333"/>
                </a:solidFill>
                <a:latin typeface="Segoe UI Light"/>
              </a:defRPr>
            </a:pPr>
            <a:r>
              <a:t>Predictive analytics for patient outcomes</a:t>
            </a:r>
          </a:p>
          <a:p>
            <a:pPr>
              <a:spcBef>
                <a:spcPts val="600"/>
              </a:spcBef>
              <a:spcAft>
                <a:spcPts val="400"/>
              </a:spcAft>
              <a:defRPr sz="1800" b="0">
                <a:solidFill>
                  <a:srgbClr val="333333"/>
                </a:solidFill>
                <a:latin typeface="Segoe UI Light"/>
              </a:defRPr>
            </a:pPr>
            <a:r>
              <a:t>Finance Applications:</a:t>
            </a:r>
          </a:p>
          <a:p>
            <a:pPr>
              <a:spcBef>
                <a:spcPts val="600"/>
              </a:spcBef>
              <a:spcAft>
                <a:spcPts val="400"/>
              </a:spcAft>
              <a:defRPr sz="1800" b="0">
                <a:solidFill>
                  <a:srgbClr val="333333"/>
                </a:solidFill>
                <a:latin typeface="Segoe UI Light"/>
              </a:defRPr>
            </a:pPr>
            <a:r>
              <a:t>Fraud detection in credit card transactions</a:t>
            </a:r>
          </a:p>
          <a:p>
            <a:pPr>
              <a:spcBef>
                <a:spcPts val="600"/>
              </a:spcBef>
              <a:spcAft>
                <a:spcPts val="400"/>
              </a:spcAft>
              <a:defRPr sz="1800" b="0">
                <a:solidFill>
                  <a:srgbClr val="333333"/>
                </a:solidFill>
                <a:latin typeface="Segoe UI Light"/>
              </a:defRPr>
            </a:pPr>
            <a:r>
              <a:t>Algorithmic trading and market prediction</a:t>
            </a:r>
          </a:p>
          <a:p>
            <a:pPr>
              <a:spcBef>
                <a:spcPts val="600"/>
              </a:spcBef>
              <a:spcAft>
                <a:spcPts val="400"/>
              </a:spcAft>
              <a:defRPr sz="1800" b="0">
                <a:solidFill>
                  <a:srgbClr val="333333"/>
                </a:solidFill>
                <a:latin typeface="Segoe UI Light"/>
              </a:defRPr>
            </a:pPr>
            <a:r>
              <a:t>Credit risk assessment</a:t>
            </a:r>
          </a:p>
          <a:p>
            <a:pPr>
              <a:spcBef>
                <a:spcPts val="600"/>
              </a:spcBef>
              <a:spcAft>
                <a:spcPts val="400"/>
              </a:spcAft>
              <a:defRPr sz="1800" b="0">
                <a:solidFill>
                  <a:srgbClr val="333333"/>
                </a:solidFill>
                <a:latin typeface="Segoe UI Light"/>
              </a:defRPr>
            </a:pPr>
            <a:r>
              <a:t>Customer service chatbots and virtual assistants</a:t>
            </a:r>
          </a:p>
          <a:p>
            <a:pPr>
              <a:spcBef>
                <a:spcPts val="600"/>
              </a:spcBef>
              <a:spcAft>
                <a:spcPts val="400"/>
              </a:spcAft>
              <a:defRPr sz="1800" b="0">
                <a:solidFill>
                  <a:srgbClr val="333333"/>
                </a:solidFill>
                <a:latin typeface="Segoe UI Light"/>
              </a:defRPr>
            </a:pPr>
            <a:r>
              <a:t>Additional Impact Areas:</a:t>
            </a:r>
          </a:p>
          <a:p>
            <a:pPr>
              <a:spcBef>
                <a:spcPts val="600"/>
              </a:spcBef>
              <a:spcAft>
                <a:spcPts val="400"/>
              </a:spcAft>
              <a:defRPr sz="1800" b="0">
                <a:solidFill>
                  <a:srgbClr val="333333"/>
                </a:solidFill>
                <a:latin typeface="Segoe UI Light"/>
              </a:defRPr>
            </a:pPr>
            <a:r>
              <a:t>Retail: Recommendation systems, inventory optimization</a:t>
            </a:r>
          </a:p>
          <a:p>
            <a:pPr>
              <a:spcBef>
                <a:spcPts val="600"/>
              </a:spcBef>
              <a:spcAft>
                <a:spcPts val="400"/>
              </a:spcAft>
              <a:defRPr sz="1800" b="0">
                <a:solidFill>
                  <a:srgbClr val="333333"/>
                </a:solidFill>
                <a:latin typeface="Segoe UI Light"/>
              </a:defRPr>
            </a:pPr>
            <a:r>
              <a:t>Manufacturing: Predictive maintenance, quality control</a:t>
            </a:r>
          </a:p>
          <a:p>
            <a:pPr>
              <a:spcBef>
                <a:spcPts val="600"/>
              </a:spcBef>
              <a:spcAft>
                <a:spcPts val="400"/>
              </a:spcAft>
              <a:defRPr sz="1800" b="0">
                <a:solidFill>
                  <a:srgbClr val="333333"/>
                </a:solidFill>
                <a:latin typeface="Segoe UI Light"/>
              </a:defRPr>
            </a:pPr>
            <a:r>
              <a:t>Transportation: Route optimization, autonomous vehicles</a:t>
            </a:r>
          </a:p>
          <a:p>
            <a:pPr>
              <a:spcBef>
                <a:spcPts val="600"/>
              </a:spcBef>
              <a:spcAft>
                <a:spcPts val="400"/>
              </a:spcAft>
              <a:defRPr sz="1800" b="0">
                <a:solidFill>
                  <a:srgbClr val="333333"/>
                </a:solidFill>
                <a:latin typeface="Segoe UI Light"/>
              </a:defRPr>
            </a:pPr>
            <a:r>
              <a:t>Entertainment: Content recommendation, content creation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A1A1A"/>
                </a:solidFill>
                <a:latin typeface="Segoe UI"/>
              </a:defRPr>
            </a:pPr>
            <a:r>
              <a:t>The ML Workflow: From Problem to Solution</a:t>
            </a:r>
          </a:p>
        </p:txBody>
      </p:sp>
      <p:sp>
        <p:nvSpPr>
          <p:cNvPr id="3" name="Content Placeholder 2"/>
          <p:cNvSpPr>
            <a:spLocks noGrp="1"/>
          </p:cNvSpPr>
          <p:nvPr>
            <p:ph idx="1"/>
          </p:nvPr>
        </p:nvSpPr>
        <p:spPr/>
        <p:txBody>
          <a:bodyPr wrap="square"/>
          <a:lstStyle/>
          <a:p>
            <a:pPr>
              <a:spcBef>
                <a:spcPts val="600"/>
              </a:spcBef>
              <a:spcAft>
                <a:spcPts val="400"/>
              </a:spcAft>
              <a:defRPr sz="1800" b="0">
                <a:solidFill>
                  <a:srgbClr val="333333"/>
                </a:solidFill>
                <a:latin typeface="Segoe UI Light"/>
              </a:defRPr>
            </a:pPr>
            <a:r>
              <a:t>1. Problem Definition:</a:t>
            </a:r>
          </a:p>
          <a:p>
            <a:pPr>
              <a:spcBef>
                <a:spcPts val="600"/>
              </a:spcBef>
              <a:spcAft>
                <a:spcPts val="400"/>
              </a:spcAft>
              <a:defRPr sz="1800" b="0">
                <a:solidFill>
                  <a:srgbClr val="333333"/>
                </a:solidFill>
                <a:latin typeface="Segoe UI Light"/>
              </a:defRPr>
            </a:pPr>
            <a:r>
              <a:t>Clearly articulate business or research problem</a:t>
            </a:r>
          </a:p>
          <a:p>
            <a:pPr>
              <a:spcBef>
                <a:spcPts val="600"/>
              </a:spcBef>
              <a:spcAft>
                <a:spcPts val="400"/>
              </a:spcAft>
              <a:defRPr sz="1800" b="0">
                <a:solidFill>
                  <a:srgbClr val="333333"/>
                </a:solidFill>
                <a:latin typeface="Segoe UI Light"/>
              </a:defRPr>
            </a:pPr>
            <a:r>
              <a:t>Determine if ML is appropriate solution</a:t>
            </a:r>
          </a:p>
          <a:p>
            <a:pPr>
              <a:spcBef>
                <a:spcPts val="600"/>
              </a:spcBef>
              <a:spcAft>
                <a:spcPts val="400"/>
              </a:spcAft>
              <a:defRPr sz="1800" b="0">
                <a:solidFill>
                  <a:srgbClr val="333333"/>
                </a:solidFill>
                <a:latin typeface="Segoe UI Light"/>
              </a:defRPr>
            </a:pPr>
            <a:r>
              <a:t>Define success metrics and constraints</a:t>
            </a:r>
          </a:p>
          <a:p>
            <a:pPr>
              <a:spcBef>
                <a:spcPts val="600"/>
              </a:spcBef>
              <a:spcAft>
                <a:spcPts val="400"/>
              </a:spcAft>
              <a:defRPr sz="1800" b="0">
                <a:solidFill>
                  <a:srgbClr val="333333"/>
                </a:solidFill>
                <a:latin typeface="Segoe UI Light"/>
              </a:defRPr>
            </a:pPr>
            <a:r>
              <a:t>2. Data Collection &amp; Preparation:</a:t>
            </a:r>
          </a:p>
          <a:p>
            <a:pPr>
              <a:spcBef>
                <a:spcPts val="600"/>
              </a:spcBef>
              <a:spcAft>
                <a:spcPts val="400"/>
              </a:spcAft>
              <a:defRPr sz="1800" b="0">
                <a:solidFill>
                  <a:srgbClr val="333333"/>
                </a:solidFill>
                <a:latin typeface="Segoe UI Light"/>
              </a:defRPr>
            </a:pPr>
            <a:r>
              <a:t>Gather relevant data from various sources</a:t>
            </a:r>
          </a:p>
          <a:p>
            <a:pPr>
              <a:spcBef>
                <a:spcPts val="600"/>
              </a:spcBef>
              <a:spcAft>
                <a:spcPts val="400"/>
              </a:spcAft>
              <a:defRPr sz="1800" b="0">
                <a:solidFill>
                  <a:srgbClr val="333333"/>
                </a:solidFill>
                <a:latin typeface="Segoe UI Light"/>
              </a:defRPr>
            </a:pPr>
            <a:r>
              <a:t>Clean, preprocess, and explore data</a:t>
            </a:r>
          </a:p>
          <a:p>
            <a:pPr>
              <a:spcBef>
                <a:spcPts val="600"/>
              </a:spcBef>
              <a:spcAft>
                <a:spcPts val="400"/>
              </a:spcAft>
              <a:defRPr sz="1800" b="0">
                <a:solidFill>
                  <a:srgbClr val="333333"/>
                </a:solidFill>
                <a:latin typeface="Segoe UI Light"/>
              </a:defRPr>
            </a:pPr>
            <a:r>
              <a:t>Handle missing values, outliers, inconsistencies</a:t>
            </a:r>
          </a:p>
          <a:p>
            <a:pPr>
              <a:spcBef>
                <a:spcPts val="600"/>
              </a:spcBef>
              <a:spcAft>
                <a:spcPts val="400"/>
              </a:spcAft>
              <a:defRPr sz="1800" b="0">
                <a:solidFill>
                  <a:srgbClr val="333333"/>
                </a:solidFill>
                <a:latin typeface="Segoe UI Light"/>
              </a:defRPr>
            </a:pPr>
            <a:r>
              <a:t>3. Feature Engineering:</a:t>
            </a:r>
          </a:p>
          <a:p>
            <a:pPr>
              <a:spcBef>
                <a:spcPts val="600"/>
              </a:spcBef>
              <a:spcAft>
                <a:spcPts val="400"/>
              </a:spcAft>
              <a:defRPr sz="1800" b="0">
                <a:solidFill>
                  <a:srgbClr val="333333"/>
                </a:solidFill>
                <a:latin typeface="Segoe UI Light"/>
              </a:defRPr>
            </a:pPr>
            <a:r>
              <a:t>Select, transform, and create features</a:t>
            </a:r>
          </a:p>
          <a:p>
            <a:pPr>
              <a:spcBef>
                <a:spcPts val="600"/>
              </a:spcBef>
              <a:spcAft>
                <a:spcPts val="400"/>
              </a:spcAft>
              <a:defRPr sz="1800" b="0">
                <a:solidFill>
                  <a:srgbClr val="333333"/>
                </a:solidFill>
                <a:latin typeface="Segoe UI Light"/>
              </a:defRPr>
            </a:pPr>
            <a:r>
              <a:t>Normalize or standardize features as needed</a:t>
            </a:r>
          </a:p>
          <a:p>
            <a:pPr>
              <a:spcBef>
                <a:spcPts val="600"/>
              </a:spcBef>
              <a:spcAft>
                <a:spcPts val="400"/>
              </a:spcAft>
              <a:defRPr sz="1800" b="0">
                <a:solidFill>
                  <a:srgbClr val="333333"/>
                </a:solidFill>
                <a:latin typeface="Segoe UI Light"/>
              </a:defRPr>
            </a:pPr>
            <a:r>
              <a:t>Consider domain knowledge in feature creation</a:t>
            </a:r>
          </a:p>
          <a:p>
            <a:pPr>
              <a:spcBef>
                <a:spcPts val="600"/>
              </a:spcBef>
              <a:spcAft>
                <a:spcPts val="400"/>
              </a:spcAft>
              <a:defRPr sz="1800" b="0">
                <a:solidFill>
                  <a:srgbClr val="333333"/>
                </a:solidFill>
                <a:latin typeface="Segoe UI Light"/>
              </a:defRPr>
            </a:pPr>
            <a:r>
              <a:t>4. Model Selection &amp; Training:</a:t>
            </a:r>
          </a:p>
          <a:p>
            <a:pPr>
              <a:spcBef>
                <a:spcPts val="600"/>
              </a:spcBef>
              <a:spcAft>
                <a:spcPts val="400"/>
              </a:spcAft>
              <a:defRPr sz="1800" b="0">
                <a:solidFill>
                  <a:srgbClr val="333333"/>
                </a:solidFill>
                <a:latin typeface="Segoe UI Light"/>
              </a:defRPr>
            </a:pPr>
            <a:r>
              <a:t>Choose appropriate algorithm(s) for problem</a:t>
            </a:r>
          </a:p>
          <a:p>
            <a:pPr>
              <a:spcBef>
                <a:spcPts val="600"/>
              </a:spcBef>
              <a:spcAft>
                <a:spcPts val="400"/>
              </a:spcAft>
              <a:defRPr sz="1800" b="0">
                <a:solidFill>
                  <a:srgbClr val="333333"/>
                </a:solidFill>
                <a:latin typeface="Segoe UI Light"/>
              </a:defRPr>
            </a:pPr>
            <a:r>
              <a:t>Split data into training/validation/test sets</a:t>
            </a:r>
          </a:p>
          <a:p>
            <a:pPr>
              <a:spcBef>
                <a:spcPts val="600"/>
              </a:spcBef>
              <a:spcAft>
                <a:spcPts val="400"/>
              </a:spcAft>
              <a:defRPr sz="1800" b="0">
                <a:solidFill>
                  <a:srgbClr val="333333"/>
                </a:solidFill>
                <a:latin typeface="Segoe UI Light"/>
              </a:defRPr>
            </a:pPr>
            <a:r>
              <a:t>Train model, tune hyperparameters</a:t>
            </a:r>
          </a:p>
          <a:p>
            <a:pPr>
              <a:spcBef>
                <a:spcPts val="600"/>
              </a:spcBef>
              <a:spcAft>
                <a:spcPts val="400"/>
              </a:spcAft>
              <a:defRPr sz="1800" b="0">
                <a:solidFill>
                  <a:srgbClr val="333333"/>
                </a:solidFill>
                <a:latin typeface="Segoe UI Light"/>
              </a:defRPr>
            </a:pPr>
            <a:r>
              <a:t>5. Evaluation &amp; Deployment:</a:t>
            </a:r>
          </a:p>
          <a:p>
            <a:pPr>
              <a:spcBef>
                <a:spcPts val="600"/>
              </a:spcBef>
              <a:spcAft>
                <a:spcPts val="400"/>
              </a:spcAft>
              <a:defRPr sz="1800" b="0">
                <a:solidFill>
                  <a:srgbClr val="333333"/>
                </a:solidFill>
                <a:latin typeface="Segoe UI Light"/>
              </a:defRPr>
            </a:pPr>
            <a:r>
              <a:t>Thoroughly evaluate on test set</a:t>
            </a:r>
          </a:p>
          <a:p>
            <a:pPr>
              <a:spcBef>
                <a:spcPts val="600"/>
              </a:spcBef>
              <a:spcAft>
                <a:spcPts val="400"/>
              </a:spcAft>
              <a:defRPr sz="1800" b="0">
                <a:solidFill>
                  <a:srgbClr val="333333"/>
                </a:solidFill>
                <a:latin typeface="Segoe UI Light"/>
              </a:defRPr>
            </a:pPr>
            <a:r>
              <a:t>Deploy to production environment</a:t>
            </a:r>
          </a:p>
          <a:p>
            <a:pPr>
              <a:spcBef>
                <a:spcPts val="600"/>
              </a:spcBef>
              <a:spcAft>
                <a:spcPts val="400"/>
              </a:spcAft>
              <a:defRPr sz="1800" b="0">
                <a:solidFill>
                  <a:srgbClr val="333333"/>
                </a:solidFill>
                <a:latin typeface="Segoe UI Light"/>
              </a:defRPr>
            </a:pPr>
            <a:r>
              <a:t>Monitor performance, retrain as needed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A1A1A"/>
                </a:solidFill>
                <a:latin typeface="Segoe UI"/>
              </a:defRPr>
            </a:pPr>
            <a:r>
              <a:t>Key Takeaways and Conclusion</a:t>
            </a:r>
          </a:p>
        </p:txBody>
      </p:sp>
      <p:sp>
        <p:nvSpPr>
          <p:cNvPr id="3" name="Content Placeholder 2"/>
          <p:cNvSpPr>
            <a:spLocks noGrp="1"/>
          </p:cNvSpPr>
          <p:nvPr>
            <p:ph idx="1"/>
          </p:nvPr>
        </p:nvSpPr>
        <p:spPr/>
        <p:txBody>
          <a:bodyPr wrap="square"/>
          <a:lstStyle/>
          <a:p>
            <a:pPr>
              <a:spcBef>
                <a:spcPts val="600"/>
              </a:spcBef>
              <a:spcAft>
                <a:spcPts val="400"/>
              </a:spcAft>
              <a:defRPr sz="1800" b="0">
                <a:solidFill>
                  <a:srgbClr val="333333"/>
                </a:solidFill>
                <a:latin typeface="Segoe UI Light"/>
              </a:defRPr>
            </a:pPr>
            <a:r>
              <a:t>Machine Learning Fundamentals:</a:t>
            </a:r>
          </a:p>
          <a:p>
            <a:pPr>
              <a:spcBef>
                <a:spcPts val="600"/>
              </a:spcBef>
              <a:spcAft>
                <a:spcPts val="400"/>
              </a:spcAft>
              <a:defRPr sz="1800" b="0">
                <a:solidFill>
                  <a:srgbClr val="333333"/>
                </a:solidFill>
                <a:latin typeface="Segoe UI Light"/>
              </a:defRPr>
            </a:pPr>
            <a:r>
              <a:t>ML enables systems to learn from data without explicit programming</a:t>
            </a:r>
          </a:p>
          <a:p>
            <a:pPr>
              <a:spcBef>
                <a:spcPts val="600"/>
              </a:spcBef>
              <a:spcAft>
                <a:spcPts val="400"/>
              </a:spcAft>
              <a:defRPr sz="1800" b="0">
                <a:solidFill>
                  <a:srgbClr val="333333"/>
                </a:solidFill>
                <a:latin typeface="Segoe UI Light"/>
              </a:defRPr>
            </a:pPr>
            <a:r>
              <a:t>Three primary types: Supervised, Unsupervised, Reinforcement Learning</a:t>
            </a:r>
          </a:p>
          <a:p>
            <a:pPr>
              <a:spcBef>
                <a:spcPts val="600"/>
              </a:spcBef>
              <a:spcAft>
                <a:spcPts val="400"/>
              </a:spcAft>
              <a:defRPr sz="1800" b="0">
                <a:solidFill>
                  <a:srgbClr val="333333"/>
                </a:solidFill>
                <a:latin typeface="Segoe UI Light"/>
              </a:defRPr>
            </a:pPr>
            <a:r>
              <a:t>Each type addresses different problems and uses different approaches</a:t>
            </a:r>
          </a:p>
          <a:p>
            <a:pPr>
              <a:spcBef>
                <a:spcPts val="600"/>
              </a:spcBef>
              <a:spcAft>
                <a:spcPts val="400"/>
              </a:spcAft>
              <a:defRPr sz="1800" b="0">
                <a:solidFill>
                  <a:srgbClr val="333333"/>
                </a:solidFill>
                <a:latin typeface="Segoe UI Light"/>
              </a:defRPr>
            </a:pPr>
            <a:r>
              <a:t>Essential Concepts:</a:t>
            </a:r>
          </a:p>
          <a:p>
            <a:pPr>
              <a:spcBef>
                <a:spcPts val="600"/>
              </a:spcBef>
              <a:spcAft>
                <a:spcPts val="400"/>
              </a:spcAft>
              <a:defRPr sz="1800" b="0">
                <a:solidFill>
                  <a:srgbClr val="333333"/>
                </a:solidFill>
                <a:latin typeface="Segoe UI Light"/>
              </a:defRPr>
            </a:pPr>
            <a:r>
              <a:t>Features and labels form the basis of learning</a:t>
            </a:r>
          </a:p>
          <a:p>
            <a:pPr>
              <a:spcBef>
                <a:spcPts val="600"/>
              </a:spcBef>
              <a:spcAft>
                <a:spcPts val="400"/>
              </a:spcAft>
              <a:defRPr sz="1800" b="0">
                <a:solidFill>
                  <a:srgbClr val="333333"/>
                </a:solidFill>
                <a:latin typeface="Segoe UI Light"/>
              </a:defRPr>
            </a:pPr>
            <a:r>
              <a:t>Training teaches models; validation tests generalization</a:t>
            </a:r>
          </a:p>
          <a:p>
            <a:pPr>
              <a:spcBef>
                <a:spcPts val="600"/>
              </a:spcBef>
              <a:spcAft>
                <a:spcPts val="400"/>
              </a:spcAft>
              <a:defRPr sz="1800" b="0">
                <a:solidFill>
                  <a:srgbClr val="333333"/>
                </a:solidFill>
                <a:latin typeface="Segoe UI Light"/>
              </a:defRPr>
            </a:pPr>
            <a:r>
              <a:t>Overfitting is a critical challenge requiring careful mitigation</a:t>
            </a:r>
          </a:p>
          <a:p>
            <a:pPr>
              <a:spcBef>
                <a:spcPts val="600"/>
              </a:spcBef>
              <a:spcAft>
                <a:spcPts val="400"/>
              </a:spcAft>
              <a:defRPr sz="1800" b="0">
                <a:solidFill>
                  <a:srgbClr val="333333"/>
                </a:solidFill>
                <a:latin typeface="Segoe UI Light"/>
              </a:defRPr>
            </a:pPr>
            <a:r>
              <a:t>Practical Implementation:</a:t>
            </a:r>
          </a:p>
          <a:p>
            <a:pPr>
              <a:spcBef>
                <a:spcPts val="600"/>
              </a:spcBef>
              <a:spcAft>
                <a:spcPts val="400"/>
              </a:spcAft>
              <a:defRPr sz="1800" b="0">
                <a:solidFill>
                  <a:srgbClr val="333333"/>
                </a:solidFill>
                <a:latin typeface="Segoe UI Light"/>
              </a:defRPr>
            </a:pPr>
            <a:r>
              <a:t>Frameworks like TensorFlow, PyTorch, scikit-learn provide essential tools</a:t>
            </a:r>
          </a:p>
          <a:p>
            <a:pPr>
              <a:spcBef>
                <a:spcPts val="600"/>
              </a:spcBef>
              <a:spcAft>
                <a:spcPts val="400"/>
              </a:spcAft>
              <a:defRPr sz="1800" b="0">
                <a:solidFill>
                  <a:srgbClr val="333333"/>
                </a:solidFill>
                <a:latin typeface="Segoe UI Light"/>
              </a:defRPr>
            </a:pPr>
            <a:r>
              <a:t>Choice depends on use case, team expertise, and requirements</a:t>
            </a:r>
          </a:p>
          <a:p>
            <a:pPr>
              <a:spcBef>
                <a:spcPts val="600"/>
              </a:spcBef>
              <a:spcAft>
                <a:spcPts val="400"/>
              </a:spcAft>
              <a:defRPr sz="1800" b="0">
                <a:solidFill>
                  <a:srgbClr val="333333"/>
                </a:solidFill>
                <a:latin typeface="Segoe UI Light"/>
              </a:defRPr>
            </a:pPr>
            <a:r>
              <a:t>ML is transforming industries but requires thoughtful implementation</a:t>
            </a:r>
          </a:p>
          <a:p>
            <a:pPr>
              <a:spcBef>
                <a:spcPts val="600"/>
              </a:spcBef>
              <a:spcAft>
                <a:spcPts val="400"/>
              </a:spcAft>
              <a:defRPr sz="1800" b="0">
                <a:solidFill>
                  <a:srgbClr val="333333"/>
                </a:solidFill>
                <a:latin typeface="Segoe UI Light"/>
              </a:defRPr>
            </a:pPr>
            <a:r>
              <a:t>Future Direction:</a:t>
            </a:r>
          </a:p>
          <a:p>
            <a:pPr>
              <a:spcBef>
                <a:spcPts val="600"/>
              </a:spcBef>
              <a:spcAft>
                <a:spcPts val="400"/>
              </a:spcAft>
              <a:defRPr sz="1800" b="0">
                <a:solidFill>
                  <a:srgbClr val="333333"/>
                </a:solidFill>
                <a:latin typeface="Segoe UI Light"/>
              </a:defRPr>
            </a:pPr>
            <a:r>
              <a:t>Continued advancement in algorithms and hardware</a:t>
            </a:r>
          </a:p>
          <a:p>
            <a:pPr>
              <a:spcBef>
                <a:spcPts val="600"/>
              </a:spcBef>
              <a:spcAft>
                <a:spcPts val="400"/>
              </a:spcAft>
              <a:defRPr sz="1800" b="0">
                <a:solidFill>
                  <a:srgbClr val="333333"/>
                </a:solidFill>
                <a:latin typeface="Segoe UI Light"/>
              </a:defRPr>
            </a:pPr>
            <a:r>
              <a:t>Growing importance of ethical AI and responsible ML</a:t>
            </a:r>
          </a:p>
          <a:p>
            <a:pPr>
              <a:spcBef>
                <a:spcPts val="600"/>
              </a:spcBef>
              <a:spcAft>
                <a:spcPts val="400"/>
              </a:spcAft>
              <a:defRPr sz="1800" b="0">
                <a:solidFill>
                  <a:srgbClr val="333333"/>
                </a:solidFill>
                <a:latin typeface="Segoe UI Light"/>
              </a:defRPr>
            </a:pPr>
            <a:r>
              <a:t>Increasing accessibility through AutoML and cloud services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A1A1A"/>
                </a:solidFill>
                <a:latin typeface="Segoe UI"/>
              </a:defRPr>
            </a:pPr>
            <a:r>
              <a:t>Thank You &amp; Questions</a:t>
            </a:r>
          </a:p>
        </p:txBody>
      </p:sp>
      <p:sp>
        <p:nvSpPr>
          <p:cNvPr id="3" name="Content Placeholder 2"/>
          <p:cNvSpPr>
            <a:spLocks noGrp="1"/>
          </p:cNvSpPr>
          <p:nvPr>
            <p:ph idx="1"/>
          </p:nvPr>
        </p:nvSpPr>
        <p:spPr/>
        <p:txBody>
          <a:bodyPr wrap="square"/>
          <a:lstStyle/>
          <a:p>
            <a:pPr>
              <a:spcBef>
                <a:spcPts val="600"/>
              </a:spcBef>
              <a:spcAft>
                <a:spcPts val="400"/>
              </a:spcAft>
              <a:defRPr sz="1800" b="0">
                <a:solidFill>
                  <a:srgbClr val="333333"/>
                </a:solidFill>
                <a:latin typeface="Segoe UI Light"/>
              </a:defRPr>
            </a:pPr>
            <a:r>
              <a:t>Contact Information: [Your Name/Organization]</a:t>
            </a:r>
          </a:p>
          <a:p>
            <a:pPr>
              <a:spcBef>
                <a:spcPts val="600"/>
              </a:spcBef>
              <a:spcAft>
                <a:spcPts val="400"/>
              </a:spcAft>
              <a:defRPr sz="1800" b="0">
                <a:solidFill>
                  <a:srgbClr val="333333"/>
                </a:solidFill>
                <a:latin typeface="Segoe UI Light"/>
              </a:defRPr>
            </a:pPr>
            <a:r>
              <a:t>Additional Resources:</a:t>
            </a:r>
          </a:p>
          <a:p>
            <a:pPr>
              <a:spcBef>
                <a:spcPts val="600"/>
              </a:spcBef>
              <a:spcAft>
                <a:spcPts val="400"/>
              </a:spcAft>
              <a:defRPr sz="1800" b="0">
                <a:solidFill>
                  <a:srgbClr val="333333"/>
                </a:solidFill>
                <a:latin typeface="Segoe UI Light"/>
              </a:defRPr>
            </a:pPr>
            <a:r>
              <a:t>Online courses: Coursera, edX, Fast.ai</a:t>
            </a:r>
          </a:p>
          <a:p>
            <a:pPr>
              <a:spcBef>
                <a:spcPts val="600"/>
              </a:spcBef>
              <a:spcAft>
                <a:spcPts val="400"/>
              </a:spcAft>
              <a:defRPr sz="1800" b="0">
                <a:solidFill>
                  <a:srgbClr val="333333"/>
                </a:solidFill>
                <a:latin typeface="Segoe UI Light"/>
              </a:defRPr>
            </a:pPr>
            <a:r>
              <a:t>Books: 'Hands-On Machine Learning', 'Pattern Recognition and Machine Learning'</a:t>
            </a:r>
          </a:p>
          <a:p>
            <a:pPr>
              <a:spcBef>
                <a:spcPts val="600"/>
              </a:spcBef>
              <a:spcAft>
                <a:spcPts val="400"/>
              </a:spcAft>
              <a:defRPr sz="1800" b="0">
                <a:solidFill>
                  <a:srgbClr val="333333"/>
                </a:solidFill>
                <a:latin typeface="Segoe UI Light"/>
              </a:defRPr>
            </a:pPr>
            <a:r>
              <a:t>Communities: Kaggle, GitHub, research conferences</a:t>
            </a:r>
          </a:p>
          <a:p>
            <a:pPr>
              <a:spcBef>
                <a:spcPts val="600"/>
              </a:spcBef>
              <a:spcAft>
                <a:spcPts val="400"/>
              </a:spcAft>
              <a:defRPr sz="1800" b="0">
                <a:solidFill>
                  <a:srgbClr val="333333"/>
                </a:solidFill>
                <a:latin typeface="Segoe UI Light"/>
              </a:defRPr>
            </a:pPr>
            <a:r>
              <a:t>Datasets: UCI Machine Learning Repository, Kaggle Datasets</a:t>
            </a:r>
          </a:p>
          <a:p>
            <a:pPr>
              <a:spcBef>
                <a:spcPts val="600"/>
              </a:spcBef>
              <a:spcAft>
                <a:spcPts val="400"/>
              </a:spcAft>
              <a:defRPr sz="1800" b="0">
                <a:solidFill>
                  <a:srgbClr val="333333"/>
                </a:solidFill>
                <a:latin typeface="Segoe UI Light"/>
              </a:defRPr>
            </a:pPr>
            <a:r>
              <a:t>Next Steps:</a:t>
            </a:r>
          </a:p>
          <a:p>
            <a:pPr>
              <a:spcBef>
                <a:spcPts val="600"/>
              </a:spcBef>
              <a:spcAft>
                <a:spcPts val="400"/>
              </a:spcAft>
              <a:defRPr sz="1800" b="0">
                <a:solidFill>
                  <a:srgbClr val="333333"/>
                </a:solidFill>
                <a:latin typeface="Segoe UI Light"/>
              </a:defRPr>
            </a:pPr>
            <a:r>
              <a:t>Experiment with small projects using available datasets</a:t>
            </a:r>
          </a:p>
          <a:p>
            <a:pPr>
              <a:spcBef>
                <a:spcPts val="600"/>
              </a:spcBef>
              <a:spcAft>
                <a:spcPts val="400"/>
              </a:spcAft>
              <a:defRPr sz="1800" b="0">
                <a:solidFill>
                  <a:srgbClr val="333333"/>
                </a:solidFill>
                <a:latin typeface="Segoe UI Light"/>
              </a:defRPr>
            </a:pPr>
            <a:r>
              <a:t>Join ML communities for knowledge sharing</a:t>
            </a:r>
          </a:p>
          <a:p>
            <a:pPr>
              <a:spcBef>
                <a:spcPts val="600"/>
              </a:spcBef>
              <a:spcAft>
                <a:spcPts val="400"/>
              </a:spcAft>
              <a:defRPr sz="1800" b="0">
                <a:solidFill>
                  <a:srgbClr val="333333"/>
                </a:solidFill>
                <a:latin typeface="Segoe UI Light"/>
              </a:defRPr>
            </a:pPr>
            <a:r>
              <a:t>Stay updated with latest research and developments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5200" b="1">
                <a:solidFill>
                  <a:srgbClr val="00C896"/>
                </a:solidFill>
                <a:latin typeface="Segoe UI"/>
              </a:defRPr>
            </a:pPr>
            <a:r>
              <a:t>Thank You</a:t>
            </a:r>
          </a:p>
        </p:txBody>
      </p:sp>
      <p:sp>
        <p:nvSpPr>
          <p:cNvPr id="3" name="Subtitle 2"/>
          <p:cNvSpPr>
            <a:spLocks noGrp="1"/>
          </p:cNvSpPr>
          <p:nvPr>
            <p:ph type="subTitle" idx="1"/>
          </p:nvPr>
        </p:nvSpPr>
        <p:spPr/>
        <p:txBody>
          <a:bodyPr/>
          <a:lstStyle/>
          <a:p>
            <a:pPr algn="ctr">
              <a:defRPr sz="2400" b="0">
                <a:solidFill>
                  <a:srgbClr val="4C4C4C"/>
                </a:solidFill>
                <a:latin typeface="Segoe UI Light"/>
              </a:defRPr>
            </a:pPr>
            <a: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